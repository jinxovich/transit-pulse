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с] Добрый день! Мы — Transit Pulse: система, которая предупреждает диспетчера о задержке за 10–15 минут до того, как она случится, и говорит, почему и что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Сегодня диспетчер узнаёт об опоздании, когда автобус уже опоздал. Реакция постфактум — и задержка переходит на следующие рейсы, эффект домино. А придержать, дать резервный выпуск или пустить объездом нужно за 10–15 минут до события. Этого окна сейчас нет — мы его даём.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Телематика приходит потоком по протоколу NDTP, как от настоящих бортов. Backend накладывает каждую точку на нитку графика и считает признаки, ML-ядро прогнозирует задержку на остановках через 10–15 минут, дашборд показывает алерт с причиной и рекомендацией. Три независимых модуля в Docker, поднимаются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Прежде чем строить модель, мы проверили данные и нашли утечку ответа: факт прибытия по всем 151 целевой остановке validate лежит в расписании test и train. С ней ошибка была бы почти нулевой. Мы её не используем — колонка факта физически не попадает в признаки, это проверяет тест; по факту мы только один раз оценили шкалу метрики. Ещё две находки: синтетические автобусы — клоны реальных, в том числе в моменты validate, поэтому кросс-валидацию считаем с защитой от клонов, а отдельный сабмит обучили без этих копий — он тоже дал 1.0. А маршруты почти не пересекаются — 5 общих остановок из 847, поэтому сетевых признаков мы честно не строим.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Ядро — CatBoost по квантилям плюс GRU по треку телеметрии, 28 признаков на момент T. Верхняя строка таблицы — как на лидерборде: 52 секунды. Нижняя — честный «новый день» без клонов: 67 секунд против 88 у baseline организаторов, минус 24 процента. Квантили дают прогноз, вероятность опоздания и интервал — и мы их откалибровали: ошибка вероятности ECE упала с 0.11 до 0.03, а интервал держит 80 процентов на каждой минуте упреждения, раньше на 13–15 минутах было только 65. На платформе все ML-сабмиты дали скор 1.0 — в том числе обученный без копий моментов validate.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Главное — горизонт. На потоке мы прогнозируем все остановки в окне 10–15 минут; задним числом алерт не бывает никогда. Мы проиграли весь день через настоящий путь NDTP — backend — ML и сверили с реальной разметкой: прогноз есть для всех 353 точек, 100 процентов прогнозов строго в окне, поток и офлайн совпадают до 0.03 секунды, честная ошибка на потоке — 78 секунд против 93 у подсказки организаторов. Алерт открывается, только если условие держится три прохода подряд — так мы отсекаем мигающие красные: за день 162 инцидента, у 96 процентов опоздавших рейсов был алерт, все — за 10 минут и раньше.
Если спросят «сколько ложных алертов?»: честно, на прогнозах моделей, не видевших этот день, — 0.86 алерта на машину в час, точность 49 процентов, то есть примерно каждый второй алерт подтверждается опозданием больше двух минут; было 1.24 и 41 процент, при этом 85 процентов опоздавших рейсов по-прежнему с алертом. 67 процентов точности на потоке — это финальная модель, которая видела test, эту цифру мы честной не считаем. Пороги вынесены в настройки: диспетчерская может выбрать меньше алертов ценой полноты.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Алерт — не просто «опоздает». SHAP-вклады превращаются в причину из справочника с доказательствами в цифрах, к ней — одна-три рекомендации с кнопкой «Принять». What-if показывает эффект меры до её применения: здесь резервный выпуск переводит цель из жёлтого в зелёный, вероятность опоздания падает с 36 до 28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Инференс — полторы миллисекунды на батч из 30 машин, на потоке весь батч ML — 54 миллисекунды, проход прогнозов до рассылки — 238 по p95; от пакета NDTP до дашборда — меньше секунды. Под нагрузкой — 300 TCP-соединений и ноль потерь. Справа — панель «Система» прямо из дашборда: ноль потерь, ноль ошибок CRC, все алерты — за 10 минут и раньше. Оборвался поток — DEGRADED; упал ML — эвристика; рестарт backend — борта переподключаются сами. Холодный старт — 17 с половиной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Все дополнительные фичи из ТЗ сделаны: map-matching с учётом специфики NDTP — в 1.9 раза точнее, what-if, ONNX, ансамбль CatBoost и PyTorch GRU, собственный NDTP-кодек, больше двухсот автотестов, drawer ТС и панель «Система». И честно о том, что не взяли: отклонение по нитке как признак дало минус 1.3 секунды при нашем пороге внедрения 2 секунды, а GRU в ансамбле — всего минус 0.2 секунды.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Дальше — данные за месяцы: дообучение уже встроено, модель переобучается за 26 секунд и подменяется в работающем сервисе без остановки. Затем выдача GTFS-RT, светофорные фазы, сетевые признаки и пассажиропоток: ячейки дверей IRMA и «Корона» наш кодек уже разбирает, в датасете их пока нет. А теперь — живое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демо (3 минуты). 0:00 — общий вид пульта: сверху сим-время и режим потока, данные идут по NDTP; цвет и форма маркера — уровень риска. 0:20 — лента отсортирована по тому, сколько минут осталось до события. 0:40 — открыть красный инцидент: прогноз ± ошибка, вероятность, алерт создан за 11 минут до события; причина и доказательства; участок подсвечен на карте. 1:20 — What-if «Резервный выпуск»: эффект до применения меры. 1:40 — «Принять». 1:55 — docker compose stop replayer: через 30 с баннер «Поток прерван», карта жива; docker compose start replayer — «Поток идёт». 2:35 — Swagger :8000/docs или /api/v1/ingest/stats: последний NDTP-пакет в hex, ноль ошибок CRC. 2:50 — «Всё поднимается одной командой, инструкция в README». Резерв: запись экрана.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docs/pitch/img/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E1116">
              <a:alpha val="88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ХАКАТОН МОСКОВСКОГО ТРАНСПОРТА  ·  27.09.2026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Предупреждаем диспетчера о задержке транспорта за 10–15 минут — до того, как она случилась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5001768"/>
            <a:ext cx="155448" cy="155448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552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943100" y="5001768"/>
            <a:ext cx="155448" cy="155448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8998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риск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03220" y="5001768"/>
            <a:ext cx="155448" cy="1554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5010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графике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5001768"/>
            <a:ext cx="155448" cy="155448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4456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раньше графика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897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NDTP  →  backend  →  ML  →  дашборд диспетчера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ПРОБЛЕМА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Диспетчер узнаёт об опоздании,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когда автобус уже опоздал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848578" y="2331720"/>
            <a:ext cx="0" cy="3246120"/>
          </a:xfrm>
          <a:prstGeom prst="line">
            <a:avLst/>
          </a:prstGeom>
          <a:noFill/>
          <a:ln w="12700">
            <a:solidFill>
              <a:srgbClr val="5B6472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51298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плановое прибытие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реакция постфактум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315468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21724" y="3026664"/>
            <a:ext cx="256032" cy="256032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2460" y="2587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узнал об опоздании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11393" y="3081528"/>
            <a:ext cx="146304" cy="146304"/>
          </a:xfrm>
          <a:prstGeom prst="ellipse">
            <a:avLst/>
          </a:prstGeom>
          <a:solidFill>
            <a:srgbClr val="E5484D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45965" y="3081528"/>
            <a:ext cx="146304" cy="146304"/>
          </a:xfrm>
          <a:prstGeom prst="ellipse">
            <a:avLst/>
          </a:prstGeom>
          <a:solidFill>
            <a:srgbClr val="E5484D">
              <a:alpha val="5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980537" y="3081528"/>
            <a:ext cx="146304" cy="146304"/>
          </a:xfrm>
          <a:prstGeom prst="ellipse">
            <a:avLst/>
          </a:prstGeom>
          <a:solidFill>
            <a:srgbClr val="E5484D">
              <a:alpha val="31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7840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домино на маршруте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73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заранее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36963" y="4507992"/>
            <a:ext cx="1670538" cy="585216"/>
          </a:xfrm>
          <a:prstGeom prst="rect">
            <a:avLst/>
          </a:prstGeom>
          <a:solidFill>
            <a:srgbClr val="3E9BFF">
              <a:alpha val="22000"/>
            </a:srgbClr>
          </a:solidFill>
          <a:ln w="12700">
            <a:solidFill>
              <a:srgbClr val="3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88323" y="4178808"/>
            <a:ext cx="2767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окно алерта 10–15 мин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480060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1270" y="4672584"/>
            <a:ext cx="256032" cy="256032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166" y="4800600"/>
            <a:ext cx="3753260" cy="914"/>
          </a:xfrm>
          <a:prstGeom prst="line">
            <a:avLst/>
          </a:prstGeom>
          <a:noFill/>
          <a:ln w="381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641145" y="5001768"/>
            <a:ext cx="558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время на меру: придержать · резервный выпуск · объезд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288323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−15 мин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58862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−10 мин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−5 мин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99938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970477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мин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РЕШЕНИЕ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Ранний алерт с причиной и рекомендацией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 живом потоке телематики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2148840" cy="1600200"/>
          </a:xfrm>
          <a:prstGeom prst="roundRect">
            <a:avLst>
              <a:gd name="adj" fmla="val 4571"/>
            </a:avLst>
          </a:prstGeom>
          <a:solidFill>
            <a:srgbClr val="151A22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246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Поток NDTP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8503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· TCP :9201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replayer или официальный эмулятор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2103120"/>
            <a:ext cx="8488375" cy="4160520"/>
          </a:xfrm>
          <a:prstGeom prst="roundRect">
            <a:avLst>
              <a:gd name="adj" fmla="val 2637"/>
            </a:avLst>
          </a:prstGeom>
          <a:solidFill>
            <a:srgbClr val="0E1116"/>
          </a:solidFill>
          <a:ln w="12700">
            <a:solidFill>
              <a:srgbClr val="5B6472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383280" y="2267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docker compose up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99655" y="22677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модуля · healthcheck · готово за 17.5 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69748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1C2330"/>
          </a:solidFill>
          <a:ln w="19050">
            <a:solidFill>
              <a:srgbClr val="3E9BF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74904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backend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990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6616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приём и разбор NDTP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привязка к нитке графика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признаки на момент 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инциденты, REST + WebSocket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01000" y="26974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F2B13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4107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q10/q50/q90 + GRU (ONNX)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SHAP-вклады → причина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44805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2FBF71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75320" y="4663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47274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:8080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51937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карта · лента инцидентов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карточка · what-if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863340"/>
            <a:ext cx="685800" cy="914"/>
          </a:xfrm>
          <a:prstGeom prst="line">
            <a:avLst/>
          </a:prstGeom>
          <a:noFill/>
          <a:ln w="31750">
            <a:solidFill>
              <a:srgbClr val="3E9B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86600" y="3429000"/>
            <a:ext cx="868680" cy="914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1323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5212080"/>
            <a:ext cx="868680" cy="914"/>
          </a:xfrm>
          <a:prstGeom prst="line">
            <a:avLst/>
          </a:prstGeom>
          <a:noFill/>
          <a:ln w="254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7132320" y="48828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АУДИТ ДАННЫХ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Утечку ответа нашли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признаки и обучение она не попадает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151/151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целевых остановок validate лежат с фактом прибытия в test/ и train/schedule, а телеметрия validate побайтно совпадает с 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утечкой ошибка была бы почти нулевой. Модель, которая так учится, бесполезна на живом потоке.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606040"/>
            <a:ext cx="219456" cy="219456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86600" y="251460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Факт не попадает в признаки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85292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Загрузчик не читает колонку факта — это проверяет тест. По факту лишь оценили шкалу метрики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52044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4" name="Shape 12"/>
          <p:cNvSpPr/>
          <p:nvPr/>
        </p:nvSpPr>
        <p:spPr>
          <a:xfrm>
            <a:off x="6656832" y="3794760"/>
            <a:ext cx="219456" cy="219456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86600" y="370332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Синтетика — клоны реальных ТС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04164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Корреляция 0.88–0.99 → CV с защитой от клонов; сабмит v3 без копий моментов validate — тоже 1.0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470916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8" name="Shape 16"/>
          <p:cNvSpPr/>
          <p:nvPr/>
        </p:nvSpPr>
        <p:spPr>
          <a:xfrm>
            <a:off x="6656832" y="4983480"/>
            <a:ext cx="219456" cy="219456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489204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Маршруты не пересекаются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23036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общих остановок из 847 → сетевые признаки не строим: соседей на перегоне нет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ML-ЯДРО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Ошибка на 24% ниже baseline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даже в честной оценке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280160"/>
                <a:gridCol w="1234440"/>
                <a:gridCol w="1234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MAE, с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организаторов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LightGBM v1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CatBoost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Ансамбль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EA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Как на лидерборде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клоны в train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62.0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52.1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51.9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BF7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Честно, «новый день»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без клонов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69.4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FBF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67.1</a:t>
                      </a:r>
                      <a:endParaRPr lang="en-US" sz="24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66.4*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548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1 494 точки · 3×5 GroupKFold (ТС, 30 мин) · * с LightGBM · платформа 1.0, и без клонов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КАЛИБРОВКА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0.154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0.140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Brier p_late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7848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0.111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0.033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07848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ECE p_late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0832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65%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80%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60832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Интервал 80% на 13–15 мин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458200" y="228600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A334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59368" y="241401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28 признаков на момент 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659368" y="274320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расписание · GPS · отставание от нитки · ETA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050628" y="321868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8458200" y="347472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F2B13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59368" y="360273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по квантилям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59368" y="393192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q10 / q50 / q90 + GRU по 20 мин трека (ONNX)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50628" y="440740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458200" y="466344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FBF7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59368" y="479145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для диспетчера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59368" y="512064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задержка · калиброванная P(опоздание &gt; 2 мин) · интервал 80%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ГОРИЗОНТ НА ПОТОКЕ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Каждый алерт — строго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 10–15 минут до события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6035040" cy="3246120"/>
          </a:xfrm>
          <a:prstGeom prst="roundRect">
            <a:avLst>
              <a:gd name="adj" fmla="val 2254"/>
            </a:avLst>
          </a:prstGeom>
          <a:solidFill>
            <a:srgbClr val="151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Прогнозы на потоке по упреждению, 06.01.2026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3108960"/>
            <a:ext cx="1303020" cy="1554480"/>
          </a:xfrm>
          <a:prstGeom prst="rect">
            <a:avLst/>
          </a:prstGeom>
          <a:solidFill>
            <a:srgbClr val="3E9BFF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3436453"/>
            <a:ext cx="205740" cy="1226987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9916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1" name="Shape 9"/>
          <p:cNvSpPr/>
          <p:nvPr/>
        </p:nvSpPr>
        <p:spPr>
          <a:xfrm>
            <a:off x="4160520" y="3436220"/>
            <a:ext cx="205740" cy="1227220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421124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681728" y="3437152"/>
            <a:ext cx="205740" cy="1226288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54680" y="265176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26 336 прогнозов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(10, 15] мин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66444" y="42519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прогнозов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45202" y="4251960"/>
            <a:ext cx="1172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840" y="4663440"/>
            <a:ext cx="5212080" cy="0"/>
          </a:xfrm>
          <a:prstGeom prst="line">
            <a:avLst/>
          </a:prstGeom>
          <a:noFill/>
          <a:ln w="12700">
            <a:solidFill>
              <a:srgbClr val="5B64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3454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4058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9926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минут до планового прибытия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0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353/353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точек разметки labels_test получили прогноз цели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64828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93428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0.86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9593428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алертов на ТС·ч, честно (было 1.24); точность 41% → 49%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86600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0.03 с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паритет офлайн / поток — признаки те же, что при обучении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64828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593428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 с</a:t>
            </a:r>
            <a:endParaRPr lang="en-US" sz="3200" dirty="0"/>
          </a:p>
        </p:txBody>
      </p:sp>
      <p:sp>
        <p:nvSpPr>
          <p:cNvPr id="35" name="Text 33"/>
          <p:cNvSpPr txBox="1"/>
          <p:nvPr/>
        </p:nvSpPr>
        <p:spPr>
          <a:xfrm>
            <a:off x="9593428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MAE на потоке против 93 у подсказки организаторов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—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прохода подряд с прогнозом &gt; 2 мин или калиброванной P ≥ 0.5.  </a:t>
            </a:r>
            <a:pPr indent="0" marL="0">
              <a:buNone/>
            </a:pPr>
            <a:r>
              <a:rPr lang="en-US" sz="13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162 инцидента за день · 96% опоздавших рейсов с алертом · 100% за ≥ 10 мин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ПРИЧИНА И РЕКОМЕНДАЦИЯ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просто «опоздает» — почему и что делать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12064" y="1883664"/>
            <a:ext cx="2496951" cy="4416552"/>
          </a:xfrm>
          <a:prstGeom prst="roundRect">
            <a:avLst>
              <a:gd name="adj" fmla="val 2197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docs/pitch/img/card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2423799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65999" y="1883664"/>
            <a:ext cx="3913632" cy="2751887"/>
          </a:xfrm>
          <a:prstGeom prst="roundRect">
            <a:avLst>
              <a:gd name="adj" fmla="val 1994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/home/jinx/Desktop/transit-pulse/docs/pitch/img/whatif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1920240"/>
            <a:ext cx="3840480" cy="267873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83919" y="2066544"/>
            <a:ext cx="182880" cy="182880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03959" y="201168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и упреждение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03959" y="237744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опоздание, «± ошибка», вероятность и за сколько минут до события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3919" y="3483864"/>
            <a:ext cx="182880" cy="182880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703959" y="342900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из SHAP-вкладов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703959" y="379476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накопленное опоздание, затор на перегоне, долгая стоянка, мало запаса на конечной, опережение, потеря GPS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383919" y="4901184"/>
            <a:ext cx="182880" cy="182880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703959" y="484632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1–3 рекомендации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703959" y="521208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кнопкой «Принять»; инцидент потом закрывается фактом по GPS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802575" y="4827575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меры до её применения — та же модель пересчитывает прогноз с мерой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НАДЁЖНОСТЬ И СКОРОСТЬ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падает и не тормозит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532110" y="1883664"/>
            <a:ext cx="5147521" cy="4370832"/>
          </a:xfrm>
          <a:prstGeom prst="roundRect">
            <a:avLst>
              <a:gd name="adj" fmla="val 1255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docs/pitch/img/sys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8686" y="1920240"/>
            <a:ext cx="5074369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68686" y="6327648"/>
            <a:ext cx="5074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Панель «Система», живой стек: правило алерта, Brier 0.15 → 0.14, 0 потерь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1.5 мс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инференс, батч 30 ТС; батч ML на потоке 54 мс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90083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1 с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490083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пакет → дашборд, p95; прогнозы → WS 238 мс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потерь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 TCP · 757 пакетов/с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490083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17.5 с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490083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холодный старт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ЕСЛИ ЧТО-ТО ЛОМАЕТСЯ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873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873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920240" y="480060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через 30 с — работа по последнему состоянию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422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4223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FALLBACK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920240" y="534924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Падение ML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circuit breaker → эвристика, карта жива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97103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971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RECONNECT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920240" y="589788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Рестарт backend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переподключаются сами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 ·  СВЕРХ ОБЯЗАТЕЛЬНОГО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Все дополнительные фичи из ТЗ — и не только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1C23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MAP-MATCHING С УЧЁТОМ NDTP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1.9×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947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точнее отклонение от нитки графика: MAE 19.4 с против 36.6 с по последней остановке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09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монотонный прогресс, фильтр valid=0, скачков и «телепортов» · 34 мкс на точку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упреждающие меры, пересчёт той же моделью, монотонный фильтр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90408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19008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ONNX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519008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GRU без PyTorch: 2 мс на ТС, паритет 6·10⁻⁵ 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+ PyTorch GRU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 табличных признаков и трека, обучение на RTX 3080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90408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19008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Свой NDTP-кодек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519008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байт-в-байт с официальным эмулятором, CRC, ресинхронизация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37760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200+ автотестов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анти-утечка, инвариант горизонта, E2E по TCP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90408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19008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Drawer ТС и «Система»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519008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график отклонения, остановки ±60 мин, латентности, пакет в hex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521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0E1116"/>
          </a:solidFill>
          <a:ln w="12700">
            <a:solidFill>
              <a:srgbClr val="2A3342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822960" y="58521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Проверили и отбросили: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отклонение по нитке как признак модели — −1.3 с MAE, ниже порога внедрения 2 с;  GRU в ансамбле — всего −0.2 с, так и говорим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 ·  ЧТО ДАЛЬШЕ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Готово к реальному парку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дальше больше данных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00200" y="3108960"/>
            <a:ext cx="8991295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971800"/>
            <a:ext cx="274320" cy="274320"/>
          </a:xfrm>
          <a:prstGeom prst="ellipse">
            <a:avLst/>
          </a:prstGeom>
          <a:solidFill>
            <a:srgbClr val="2FBF71"/>
          </a:solidFill>
          <a:ln w="25400">
            <a:solidFill>
              <a:srgbClr val="2FBF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Данные за месяцы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дообучение уже встроено: train --refit 26 с, модель меняется на лету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10864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6464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GTFS-RT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96464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стандартный фид для внешних систем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58688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4288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Светофорные фазы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44288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«затор» точнее на перекрёстках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6511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92111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Сетевые признаки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92111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соседи на перегоне — когда маршруты пересекаются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454335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9935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Пассажиропоток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двери IRMA и «Корона» кодек уже разбирает — ждём данных для признака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51A2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Масштабирование уже заложено: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ML-сервис stateless и растёт репликами, приём и прогнозы разделены очередью, SHAP считается только для рискованных ТС.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docs/pitch/img/card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ПОТОК ИДЁТ  ·  localhost:8080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Демо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Живой поток NDTP, день 06.01.2026 на скорости ×30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94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пульт: карта и лента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51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0:40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красный инцидент: за 11 мин до события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091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1:20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 и «Принять»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166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1:55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5166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→ DEGRADED → LIVE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23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2:35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NDTP-пакет в hex, Swagger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 Pulse — питч</dc:title>
  <dc:subject>PptxGenJS Presentation</dc:subject>
  <dc:creator>Команда Transit Pulse</dc:creator>
  <cp:lastModifiedBy>Команда Transit Pulse</cp:lastModifiedBy>
  <cp:revision>1</cp:revision>
  <dcterms:created xsi:type="dcterms:W3CDTF">2026-09-27T10:58:50Z</dcterms:created>
  <dcterms:modified xsi:type="dcterms:W3CDTF">2026-09-27T10:58:50Z</dcterms:modified>
</cp:coreProperties>
</file>