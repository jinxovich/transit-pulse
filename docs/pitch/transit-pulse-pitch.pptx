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[~10 с] Добрый день! Мы — Transit Pulse: система, которая предупреждает диспетчера о задержке за 10–15 минут до того, как она случится, и говорит, почему и что делать.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[~20 с] Сегодня диспетчер узнаёт об опоздании, когда автобус уже опоздал. Реакция постфактум — и задержка переходит на следующие рейсы, эффект домино. А придержать, дать резервный выпуск или пустить объездом нужно за 10–15 минут до события. Этого окна сейчас нет — мы его даём.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[~25 с] Телематика приходит потоком по протоколу NDTP, как от настоящих бортов. Backend накладывает каждую точку на нитку графика и считает признаки, ML-ядро прогнозирует задержку на остановках через 10–15 минут, дашборд показывает алерт с причиной и рекомендацией. Три независимых модуля в Docker, поднимаются одной командой docker compose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[~35 с] Прежде чем строить модель, мы проверили данные и нашли утечку ответа: факт прибытия по всем 151 целевой остановке validate лежит в расписании test и train. С ней ошибка была бы почти нулевой. Мы её не используем — колонка факта физически не попадает в признаки, это проверяет тест. Ещё две находки: синтетические автобусы — клоны реальных, поэтому кросс-валидацию считаем с защитой от клонов. А маршруты почти не пересекаются — 5 общих остановок из 847, поэтому сетевых признаков мы честно не строим.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[~35 с] Ядро — CatBoost по квантилям плюс GRU по треку телеметрии. 28 признаков на момент T; квантили дают прогноз, вероятность опоздания и интервал, откалиброванный до 80 процентов. GRU обучена на GPU и работает через ONNX. Верхняя строка таблицы — как на лидерборде: 52 секунды. Нижняя — честный «новый день» без клонов: 67 секунд против 88 у baseline организаторов. Минус 24 процента даже в честной оценке.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[~35 с] Главное — горизонт. На потоке мы прогнозируем все остановки в окне 10–15 минут, инцидент открывается на первом красном прогнозе, задним числом — никогда. Мы проиграли весь день через настоящий путь NDTP — backend — ML и сверили с реальной разметкой: прогноз есть для всех 353 точек, 100 процентов прогнозов строго в окне, все 241 алерт — с упреждением от 10 минут. Поток и офлайн совпадают до 0.03 секунды, а честная ошибка на потоке — 78 секунд против 93 у подсказки организаторов, которая знает будущее.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[~20 с] Алерт — не просто «опоздает». SHAP-вклады превращаются в причину из справочника с доказательствами в цифрах, к ней — одна-три рекомендации с кнопкой «Принять». What-if показывает эффект меры до её применения: здесь резервный выпуск переводит цель из жёлтого в зелёный, вероятность опоздания падает с 36 до 28 процентов.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[~25 с] Инференс — полторы миллисекунды на батч из 30 машин; от пакета NDTP до дашборда — меньше секунды по p95. Под нагрузкой — 300 TCP-соединений и ноль потерь. Справа — панель «Система» прямо из дашборда: ноль потерь, ноль ошибок CRC, все алерты — за 10 минут и раньше. Оборвался поток — DEGRADED; упал ML — эвристика; рестарт backend — борта переподключаются сами. Холодный старт — 17 с половиной секунд.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[~15 с] Все дополнительные фичи из ТЗ сделаны: map-matching с учётом специфики NDTP — в 1.9 раза точнее, what-if, ONNX, ансамбль CatBoost и PyTorch GRU. Плюс собственный NDTP-кодек, байт-в-байт как официальный эмулятор, больше двухсот автотестов, а в дашборде — drawer ТС с графиком отклонения и панель «Система».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[~15 с] Дальше — данные за месяцы и дообучение без остановки сервиса, выдача GTFS-RT, светофорные фазы, сетевые признаки и пассажиропоток по дверным датчикам: ячейки IRMA и «Корона» NDTP уже поддерживаются. А теперь — живое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Переходим к демо (3 минуты). 0:00 — общий вид пульта: сверху сим-время и режим потока, данные идут по NDTP; цвет и форма маркера — уровень риска. 0:20 — лента отсортирована по тому, сколько минут осталось до события. 0:40 — открыть красный инцидент: прогноз ± ошибка, вероятность, алерт создан за 11 минут до события; причина и доказательства; участок подсвечен на карте. 1:20 — What-if «Резервный выпуск»: эффект до применения меры. 1:40 — «Принять». 1:55 — docker compose stop replayer: через 30 с баннер «Поток прерван», карта жива; docker compose start replayer — «Поток идёт». 2:35 — Swagger :8000/docs или /api/v1/ingest/stats: последний NDTP-пакет в hex, ноль ошибок CRC. 2:50 — «Всё поднимается одной командой, инструкция в README». Резерв: запись экрана.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inx/Desktop/transit-pulse/.claude/worktrees/agent-a1ec232645154e152/docs/pitch/img/over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>
              <a:alpha val="7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7498080" cy="6858000"/>
          </a:xfrm>
          <a:prstGeom prst="rect">
            <a:avLst/>
          </a:prstGeom>
          <a:solidFill>
            <a:srgbClr val="0E1116">
              <a:alpha val="88000"/>
            </a:srgbClr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ХАКАТОН МОСКОВСКОГО ТРАНСПОРТА  ·  27.09.2026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01168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Transit Pulse</a:t>
            </a:r>
            <a:endParaRPr lang="en-US" sz="6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4612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Предупреждаем диспетчера о задержке транспорта за 10–15 минут — до того, как она случилась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5001768"/>
            <a:ext cx="155448" cy="155448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95528" y="4937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опоздание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943100" y="5001768"/>
            <a:ext cx="155448" cy="155448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89988" y="4937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риск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03220" y="5001768"/>
            <a:ext cx="155448" cy="1554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50108" y="4937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 графике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97680" y="5001768"/>
            <a:ext cx="155448" cy="155448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44568" y="4937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раньше графика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897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NDTP  →  backend  →  ML  →  дашборд диспетчера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 ·  ПРОБЛЕМА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Диспетчер узнаёт об опоздании,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когда автобус уже опоздал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848578" y="2331720"/>
            <a:ext cx="0" cy="3246120"/>
          </a:xfrm>
          <a:prstGeom prst="line">
            <a:avLst/>
          </a:prstGeom>
          <a:noFill/>
          <a:ln w="12700">
            <a:solidFill>
              <a:srgbClr val="5B6472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751298" y="20574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плановое прибытие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803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Сегодня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2278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реакция постфактум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3154680"/>
            <a:ext cx="8686800" cy="0"/>
          </a:xfrm>
          <a:prstGeom prst="line">
            <a:avLst/>
          </a:prstGeom>
          <a:noFill/>
          <a:ln w="25400">
            <a:solidFill>
              <a:srgbClr val="2A33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21724" y="3026664"/>
            <a:ext cx="256032" cy="256032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52460" y="25877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48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узнал об опоздании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911393" y="3081528"/>
            <a:ext cx="146304" cy="146304"/>
          </a:xfrm>
          <a:prstGeom prst="ellipse">
            <a:avLst/>
          </a:prstGeom>
          <a:solidFill>
            <a:srgbClr val="E5484D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45965" y="3081528"/>
            <a:ext cx="146304" cy="146304"/>
          </a:xfrm>
          <a:prstGeom prst="ellipse">
            <a:avLst/>
          </a:prstGeom>
          <a:solidFill>
            <a:srgbClr val="E5484D">
              <a:alpha val="53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0980537" y="3081528"/>
            <a:ext cx="146304" cy="146304"/>
          </a:xfrm>
          <a:prstGeom prst="ellipse">
            <a:avLst/>
          </a:prstGeom>
          <a:solidFill>
            <a:srgbClr val="E5484D">
              <a:alpha val="31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784080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эффект домино на маршруте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526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E9B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Transit Pulse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8737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алерт заранее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836963" y="4507992"/>
            <a:ext cx="1670538" cy="585216"/>
          </a:xfrm>
          <a:prstGeom prst="rect">
            <a:avLst/>
          </a:prstGeom>
          <a:solidFill>
            <a:srgbClr val="3E9BFF">
              <a:alpha val="22000"/>
            </a:srgbClr>
          </a:solidFill>
          <a:ln w="12700">
            <a:solidFill>
              <a:srgbClr val="3E9B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88323" y="4178808"/>
            <a:ext cx="2767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окно алерта 10–15 мин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834640" y="4800600"/>
            <a:ext cx="8686800" cy="0"/>
          </a:xfrm>
          <a:prstGeom prst="line">
            <a:avLst/>
          </a:prstGeom>
          <a:noFill/>
          <a:ln w="25400">
            <a:solidFill>
              <a:srgbClr val="2A334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1270" y="4672584"/>
            <a:ext cx="256032" cy="256032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166" y="4800600"/>
            <a:ext cx="3753260" cy="914"/>
          </a:xfrm>
          <a:prstGeom prst="line">
            <a:avLst/>
          </a:prstGeom>
          <a:noFill/>
          <a:ln w="38100">
            <a:solidFill>
              <a:srgbClr val="2FBF71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5641145" y="5001768"/>
            <a:ext cx="558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FBF7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время на меру: придержать · резервный выпуск · объезд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288323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−15 мин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58862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−10 мин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−5 мин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299938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970477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+5 мин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 ·  РЕШЕНИЕ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Ранний алерт с причиной и рекомендацией 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на живом потоке телематики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2148840" cy="1600200"/>
          </a:xfrm>
          <a:prstGeom prst="roundRect">
            <a:avLst>
              <a:gd name="adj" fmla="val 4571"/>
            </a:avLst>
          </a:prstGeom>
          <a:solidFill>
            <a:srgbClr val="151A22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32461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Поток NDTP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685032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30 бортов · TCP :9201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replayer или официальный эмулятор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54680" y="2103120"/>
            <a:ext cx="8488375" cy="4160520"/>
          </a:xfrm>
          <a:prstGeom prst="roundRect">
            <a:avLst>
              <a:gd name="adj" fmla="val 2637"/>
            </a:avLst>
          </a:prstGeom>
          <a:solidFill>
            <a:srgbClr val="0E1116"/>
          </a:solidFill>
          <a:ln w="12700">
            <a:solidFill>
              <a:srgbClr val="5B6472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3383280" y="2267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 docker compose up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299655" y="22677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модуля · healthcheck · готово за 17.5 с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74720" y="2697480"/>
            <a:ext cx="3566160" cy="3246120"/>
          </a:xfrm>
          <a:prstGeom prst="roundRect">
            <a:avLst>
              <a:gd name="adj" fmla="val 2254"/>
            </a:avLst>
          </a:prstGeom>
          <a:solidFill>
            <a:srgbClr val="1C2330"/>
          </a:solidFill>
          <a:ln w="19050">
            <a:solidFill>
              <a:srgbClr val="3E9BFF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749040" y="2926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backend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299008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:8000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3566160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приём и разбор NDTP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привязка к нитке графика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признаки на момент 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инциденты, REST + WebSocket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01000" y="26974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9050">
            <a:solidFill>
              <a:srgbClr val="F2B134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75320" y="28803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ml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0424160" y="29443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:8001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41071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CatBoost q10/q50/q90 + GRU (ONNX)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SHAP-вклады → причина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01000" y="448056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9050">
            <a:solidFill>
              <a:srgbClr val="2FBF71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75320" y="46634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dashboard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0" y="472744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:8080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75320" y="519379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карта · лента инцидентов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карточка · what-if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0" y="3863340"/>
            <a:ext cx="685800" cy="914"/>
          </a:xfrm>
          <a:prstGeom prst="line">
            <a:avLst/>
          </a:prstGeom>
          <a:noFill/>
          <a:ln w="31750">
            <a:solidFill>
              <a:srgbClr val="3E9BFF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086600" y="3429000"/>
            <a:ext cx="868680" cy="914"/>
          </a:xfrm>
          <a:prstGeom prst="line">
            <a:avLst/>
          </a:prstGeom>
          <a:noFill/>
          <a:ln w="25400">
            <a:solidFill>
              <a:srgbClr val="F2B134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132320" y="30998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HTTP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86600" y="5212080"/>
            <a:ext cx="868680" cy="914"/>
          </a:xfrm>
          <a:prstGeom prst="line">
            <a:avLst/>
          </a:prstGeom>
          <a:noFill/>
          <a:ln w="25400">
            <a:solidFill>
              <a:srgbClr val="2FBF71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7132320" y="488289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 ·  АУДИТ ДАННЫХ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Мы нашли утечку ответа 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и не стали ей пользоваться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E548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151/151</a:t>
            </a:r>
            <a:endParaRPr lang="en-US" sz="9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4904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целевых остановок validate лежат с фактом прибытия в test/ и train/schedule, а телеметрия validate побайтно совпадает с test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8463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 утечкой ошибка была бы почти нулевой. Модель, которая так учится, бесполезна на живом потоке.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2331720"/>
            <a:ext cx="5242255" cy="1024128"/>
          </a:xfrm>
          <a:prstGeom prst="roundRect">
            <a:avLst>
              <a:gd name="adj" fmla="val 7143"/>
            </a:avLst>
          </a:prstGeom>
          <a:solidFill>
            <a:srgbClr val="151A22"/>
          </a:solidFill>
          <a:ln/>
        </p:spPr>
      </p:sp>
      <p:sp>
        <p:nvSpPr>
          <p:cNvPr id="10" name="Shape 8"/>
          <p:cNvSpPr/>
          <p:nvPr/>
        </p:nvSpPr>
        <p:spPr>
          <a:xfrm>
            <a:off x="6656832" y="2606040"/>
            <a:ext cx="219456" cy="219456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086600" y="2514600"/>
            <a:ext cx="4373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Факт не попадает в признаки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2852928"/>
            <a:ext cx="4373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Загрузчик расписания физически не читает колонку факта — это проверяет тест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3520440"/>
            <a:ext cx="5242255" cy="1024128"/>
          </a:xfrm>
          <a:prstGeom prst="roundRect">
            <a:avLst>
              <a:gd name="adj" fmla="val 7143"/>
            </a:avLst>
          </a:prstGeom>
          <a:solidFill>
            <a:srgbClr val="151A22"/>
          </a:solidFill>
          <a:ln/>
        </p:spPr>
      </p:sp>
      <p:sp>
        <p:nvSpPr>
          <p:cNvPr id="14" name="Shape 12"/>
          <p:cNvSpPr/>
          <p:nvPr/>
        </p:nvSpPr>
        <p:spPr>
          <a:xfrm>
            <a:off x="6656832" y="3794760"/>
            <a:ext cx="219456" cy="219456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086600" y="3703320"/>
            <a:ext cx="4373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Синтетика — клоны реальных ТС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4041648"/>
            <a:ext cx="4373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Сдвинутые копии, корреляция 0.88–0.99 → CV с защитой от клонов, иначе цифры завышены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0" y="4709160"/>
            <a:ext cx="5242255" cy="1024128"/>
          </a:xfrm>
          <a:prstGeom prst="roundRect">
            <a:avLst>
              <a:gd name="adj" fmla="val 7143"/>
            </a:avLst>
          </a:prstGeom>
          <a:solidFill>
            <a:srgbClr val="151A22"/>
          </a:solidFill>
          <a:ln/>
        </p:spPr>
      </p:sp>
      <p:sp>
        <p:nvSpPr>
          <p:cNvPr id="18" name="Shape 16"/>
          <p:cNvSpPr/>
          <p:nvPr/>
        </p:nvSpPr>
        <p:spPr>
          <a:xfrm>
            <a:off x="6656832" y="4983480"/>
            <a:ext cx="219456" cy="219456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86600" y="4892040"/>
            <a:ext cx="4373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Маршруты не пересекаются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5230368"/>
            <a:ext cx="4373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общих остановок из 847 → сетевые признаки не строим: соседей на перегоне нет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 ·  ML-ЯДРО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Ошибка на 24% ниже baseline 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даже в честной оценке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280160"/>
                <a:gridCol w="1234440"/>
                <a:gridCol w="12344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MAE, с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Baseline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организаторов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LightGBM v1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CatBoost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Ансамбль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6EA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Как на лидерборде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клоны в train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8B93A1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88.4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62.0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52.1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51.9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BF7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Честно, «новый день»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без клонов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8B93A1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88.4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69.4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2FBF71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67.1</a:t>
                      </a:r>
                      <a:endParaRPr lang="en-US" sz="24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66.4*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7548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1 494 реальные точки · 3×5 GroupKFold по (ТС, 30-мин блок) · * ансамбль с LightGBM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16636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Мы показываем обе строки: верхняя сравнима с лидербордом, нижняя — то, что будет на новом дне.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458200" y="2286000"/>
            <a:ext cx="3184855" cy="914400"/>
          </a:xfrm>
          <a:prstGeom prst="roundRect">
            <a:avLst>
              <a:gd name="adj" fmla="val 8000"/>
            </a:avLst>
          </a:prstGeom>
          <a:solidFill>
            <a:srgbClr val="151A22"/>
          </a:solidFill>
          <a:ln w="15875">
            <a:solidFill>
              <a:srgbClr val="2A334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59368" y="2414016"/>
            <a:ext cx="2819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28 признаков на момент 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659368" y="2743200"/>
            <a:ext cx="2864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расписание · GPS · отставание от нитки · ETA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0050628" y="3218688"/>
            <a:ext cx="914" cy="237744"/>
          </a:xfrm>
          <a:prstGeom prst="line">
            <a:avLst/>
          </a:prstGeom>
          <a:noFill/>
          <a:ln w="19050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8458200" y="3474720"/>
            <a:ext cx="3184855" cy="914400"/>
          </a:xfrm>
          <a:prstGeom prst="roundRect">
            <a:avLst>
              <a:gd name="adj" fmla="val 8000"/>
            </a:avLst>
          </a:prstGeom>
          <a:solidFill>
            <a:srgbClr val="151A22"/>
          </a:solidFill>
          <a:ln w="15875">
            <a:solidFill>
              <a:srgbClr val="F2B13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59368" y="3602736"/>
            <a:ext cx="2819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CatBoost по квантилям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659368" y="3931920"/>
            <a:ext cx="2864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q10 / q50 / q90 + GRU по 20 мин трека (ONNX)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0050628" y="4407408"/>
            <a:ext cx="914" cy="237744"/>
          </a:xfrm>
          <a:prstGeom prst="line">
            <a:avLst/>
          </a:prstGeom>
          <a:noFill/>
          <a:ln w="19050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8458200" y="4663440"/>
            <a:ext cx="3184855" cy="914400"/>
          </a:xfrm>
          <a:prstGeom prst="roundRect">
            <a:avLst>
              <a:gd name="adj" fmla="val 8000"/>
            </a:avLst>
          </a:prstGeom>
          <a:solidFill>
            <a:srgbClr val="151A22"/>
          </a:solidFill>
          <a:ln w="15875">
            <a:solidFill>
              <a:srgbClr val="2FBF7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59368" y="4791456"/>
            <a:ext cx="2819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Прогноз для диспетчера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659368" y="5120640"/>
            <a:ext cx="2864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задержка · P(опоздание &gt; 2 мин) · интервал 80%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 ·  ГОРИЗОНТ НА ПОТОКЕ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Каждый алерт — строго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за 10–15 минут до события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6035040" cy="3931920"/>
          </a:xfrm>
          <a:prstGeom prst="roundRect">
            <a:avLst>
              <a:gd name="adj" fmla="val 1860"/>
            </a:avLst>
          </a:prstGeom>
          <a:solidFill>
            <a:srgbClr val="151A2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Прогнозы на потоке по упреждению, 06.01.2026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2926080"/>
            <a:ext cx="1303020" cy="2468880"/>
          </a:xfrm>
          <a:prstGeom prst="rect">
            <a:avLst/>
          </a:prstGeom>
          <a:solidFill>
            <a:srgbClr val="3E9BFF">
              <a:alpha val="1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639312" y="3395426"/>
            <a:ext cx="205740" cy="1999534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0" name="Shape 8"/>
          <p:cNvSpPr/>
          <p:nvPr/>
        </p:nvSpPr>
        <p:spPr>
          <a:xfrm>
            <a:off x="3899916" y="3395806"/>
            <a:ext cx="205740" cy="1999154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1" name="Shape 9"/>
          <p:cNvSpPr/>
          <p:nvPr/>
        </p:nvSpPr>
        <p:spPr>
          <a:xfrm>
            <a:off x="4160520" y="3395046"/>
            <a:ext cx="205740" cy="1999914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2" name="Shape 10"/>
          <p:cNvSpPr/>
          <p:nvPr/>
        </p:nvSpPr>
        <p:spPr>
          <a:xfrm>
            <a:off x="4421124" y="3395806"/>
            <a:ext cx="205740" cy="1999154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681728" y="3396565"/>
            <a:ext cx="205740" cy="1998395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154680" y="2514600"/>
            <a:ext cx="2217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26 336 прогнозов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(10, 15] мин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66444" y="4983480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 прогнозов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45202" y="4983480"/>
            <a:ext cx="11727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05840" y="5394960"/>
            <a:ext cx="5212080" cy="0"/>
          </a:xfrm>
          <a:prstGeom prst="line">
            <a:avLst/>
          </a:prstGeom>
          <a:noFill/>
          <a:ln w="12700">
            <a:solidFill>
              <a:srgbClr val="5B647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54681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034540" y="54681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337560" y="54681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640580" y="54681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54681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724144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минут до планового прибытия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58000" y="2148840"/>
            <a:ext cx="2278228" cy="1828800"/>
          </a:xfrm>
          <a:prstGeom prst="roundRect">
            <a:avLst>
              <a:gd name="adj" fmla="val 4000"/>
            </a:avLst>
          </a:prstGeom>
          <a:solidFill>
            <a:srgbClr val="151A2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86600" y="2331720"/>
            <a:ext cx="19124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353/353</a:t>
            </a:r>
            <a:endParaRPr lang="en-US" sz="34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3063240"/>
            <a:ext cx="19124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точек разметки labels_test получили прогноз цели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364828" y="2148840"/>
            <a:ext cx="2278228" cy="1828800"/>
          </a:xfrm>
          <a:prstGeom prst="roundRect">
            <a:avLst>
              <a:gd name="adj" fmla="val 4000"/>
            </a:avLst>
          </a:prstGeom>
          <a:solidFill>
            <a:srgbClr val="151A2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593428" y="2331720"/>
            <a:ext cx="19124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</a:t>
            </a:r>
            <a:endParaRPr lang="en-US" sz="3400" dirty="0"/>
          </a:p>
        </p:txBody>
      </p:sp>
      <p:sp>
        <p:nvSpPr>
          <p:cNvPr id="29" name="Text 27"/>
          <p:cNvSpPr txBox="1"/>
          <p:nvPr/>
        </p:nvSpPr>
        <p:spPr>
          <a:xfrm>
            <a:off x="9593428" y="3063240"/>
            <a:ext cx="19124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алертов с упреждением ≥ 10 мин (241 из 241)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858000" y="4251960"/>
            <a:ext cx="2278228" cy="1828800"/>
          </a:xfrm>
          <a:prstGeom prst="roundRect">
            <a:avLst>
              <a:gd name="adj" fmla="val 4000"/>
            </a:avLst>
          </a:prstGeom>
          <a:solidFill>
            <a:srgbClr val="151A2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086600" y="4434840"/>
            <a:ext cx="19124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0.03 с</a:t>
            </a:r>
            <a:endParaRPr lang="en-US" sz="3400" dirty="0"/>
          </a:p>
        </p:txBody>
      </p:sp>
      <p:sp>
        <p:nvSpPr>
          <p:cNvPr id="32" name="Text 30"/>
          <p:cNvSpPr txBox="1"/>
          <p:nvPr/>
        </p:nvSpPr>
        <p:spPr>
          <a:xfrm>
            <a:off x="7086600" y="5166360"/>
            <a:ext cx="19124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паритет офлайн / поток — признаки те же, что при обучении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364828" y="4251960"/>
            <a:ext cx="2278228" cy="1828800"/>
          </a:xfrm>
          <a:prstGeom prst="roundRect">
            <a:avLst>
              <a:gd name="adj" fmla="val 4000"/>
            </a:avLst>
          </a:prstGeom>
          <a:solidFill>
            <a:srgbClr val="151A2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593428" y="4434840"/>
            <a:ext cx="19124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FBF7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78 с</a:t>
            </a:r>
            <a:endParaRPr lang="en-US" sz="3400" dirty="0"/>
          </a:p>
        </p:txBody>
      </p:sp>
      <p:sp>
        <p:nvSpPr>
          <p:cNvPr id="35" name="Text 33"/>
          <p:cNvSpPr txBox="1"/>
          <p:nvPr/>
        </p:nvSpPr>
        <p:spPr>
          <a:xfrm>
            <a:off x="9593428" y="5166360"/>
            <a:ext cx="19124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MAE на потоке против 93 у подсказки организаторов и 117 онлайн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 ·  ПРИЧИНА И РЕКОМЕНДАЦИЯ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Не просто «опоздает» — почему и что делать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12064" y="1883664"/>
            <a:ext cx="2503026" cy="4416552"/>
          </a:xfrm>
          <a:prstGeom prst="roundRect">
            <a:avLst>
              <a:gd name="adj" fmla="val 2192"/>
            </a:avLst>
          </a:prstGeom>
          <a:solidFill>
            <a:srgbClr val="2A3342"/>
          </a:solidFill>
          <a:ln/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/home/jinx/Desktop/transit-pulse/.claude/worktrees/agent-a1ec232645154e152/docs/pitch/img/card_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2429874" cy="4343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765999" y="1883664"/>
            <a:ext cx="3913632" cy="2751887"/>
          </a:xfrm>
          <a:prstGeom prst="roundRect">
            <a:avLst>
              <a:gd name="adj" fmla="val 1994"/>
            </a:avLst>
          </a:prstGeom>
          <a:solidFill>
            <a:srgbClr val="2A3342"/>
          </a:solidFill>
          <a:ln/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9" name="Image 1" descr="/home/jinx/Desktop/transit-pulse/.claude/worktrees/agent-a1ec232645154e152/docs/pitch/img/whatif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575" y="1920240"/>
            <a:ext cx="3840480" cy="2678735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389994" y="2066544"/>
            <a:ext cx="182880" cy="182880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3710034" y="2011680"/>
            <a:ext cx="36810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Прогноз и упреждение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710034" y="2377440"/>
            <a:ext cx="368106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опоздание, «± ошибка», вероятность и за сколько минут до события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389994" y="3483864"/>
            <a:ext cx="182880" cy="182880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3710034" y="3429000"/>
            <a:ext cx="36810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Причина из SHAP-вкладов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3710034" y="3794760"/>
            <a:ext cx="368106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накопленное опоздание, затор на перегоне, долгая стоянка, мало запаса на конечной, опережение, потеря GPS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3389994" y="4901184"/>
            <a:ext cx="182880" cy="182880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3710034" y="4846320"/>
            <a:ext cx="36810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1–3 рекомендации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3710034" y="5212080"/>
            <a:ext cx="368106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 кнопкой «Принять»; инцидент потом закрывается фактом по GPS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802575" y="4827575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E9B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What-if: </a:t>
            </a:r>
            <a:pPr indent="0" marL="0"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эффект меры до её применения — та же модель пересчитывает прогноз с мерой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 ·  НАДЁЖНОСТЬ И СКОРОСТЬ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Не падает и не тормозит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79999" y="1883664"/>
            <a:ext cx="6199632" cy="3542740"/>
          </a:xfrm>
          <a:prstGeom prst="roundRect">
            <a:avLst>
              <a:gd name="adj" fmla="val 1549"/>
            </a:avLst>
          </a:prstGeom>
          <a:solidFill>
            <a:srgbClr val="2A3342"/>
          </a:solidFill>
          <a:ln/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/home/jinx/Desktop/transit-pulse/.claude/worktrees/agent-a1ec232645154e152/docs/pitch/img/syste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16575" y="1920240"/>
            <a:ext cx="6126480" cy="346958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16575" y="5499556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Панель «Система» на живом стеке: 0 потерь, 0 ошибок CRC, 100% алертов за ≥ 10 мин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920240"/>
            <a:ext cx="21410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1.5 мс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633472"/>
            <a:ext cx="21410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инференс ML, батч 30 ТС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964028" y="1920240"/>
            <a:ext cx="21410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&lt; 1 с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2964028" y="2633472"/>
            <a:ext cx="21410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пакет → дашборд, p95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200400"/>
            <a:ext cx="21410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FBF7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 потерь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913632"/>
            <a:ext cx="21410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300 TCP · 757 пакетов/с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964028" y="3200400"/>
            <a:ext cx="21410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17.5 с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2964028" y="3913632"/>
            <a:ext cx="21410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холодный старт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480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ЕСЛИ ЧТО-ТО ЛОМАЕТСЯ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87375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E1116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487375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DEGRADED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920240" y="4800600"/>
            <a:ext cx="3184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Обрыв потока  </a:t>
            </a:r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через 30 с — работа по последнему состоянию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542239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E1116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542239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FALLBACK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920240" y="5349240"/>
            <a:ext cx="3184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Падение ML  </a:t>
            </a:r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circuit breaker → эвристика, карта жива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48640" y="597103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E1116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597103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BF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RECONNECT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920240" y="5897880"/>
            <a:ext cx="3184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Рестарт backend  </a:t>
            </a:r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30 бортов переподключаются сами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 ·  СВЕРХ ОБЯЗАТЕЛЬНОГО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Все дополнительные фичи из ТЗ — и не только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931920" cy="4114800"/>
          </a:xfrm>
          <a:prstGeom prst="roundRect">
            <a:avLst>
              <a:gd name="adj" fmla="val 1860"/>
            </a:avLst>
          </a:prstGeom>
          <a:solidFill>
            <a:srgbClr val="1C23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286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MAP-MATCHING С УЧЁТОМ NDTP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4320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1.9×</a:t>
            </a:r>
            <a:endParaRPr lang="en-US" sz="8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16052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точнее отклонение от нитки графика: MAE 19.4 с против 36.6 с по последней остановке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1206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монотонный прогресс, фильтр valid=0, скачков и «телепортов» · 34 мкс на точку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2011680"/>
            <a:ext cx="3352648" cy="1219200"/>
          </a:xfrm>
          <a:prstGeom prst="roundRect">
            <a:avLst>
              <a:gd name="adj" fmla="val 6000"/>
            </a:avLst>
          </a:prstGeom>
          <a:solidFill>
            <a:srgbClr val="151A2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37760" y="2176272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What-if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542032"/>
            <a:ext cx="2895448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упреждающие меры, пересчёт той же моделью, монотонный фильтр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90408" y="2011680"/>
            <a:ext cx="3352648" cy="1219200"/>
          </a:xfrm>
          <a:prstGeom prst="roundRect">
            <a:avLst>
              <a:gd name="adj" fmla="val 6000"/>
            </a:avLst>
          </a:prstGeom>
          <a:solidFill>
            <a:srgbClr val="151A2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519008" y="2176272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ONNX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519008" y="2542032"/>
            <a:ext cx="2895448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GRU без PyTorch: 2 мс на ТС, паритет 6·10⁻⁵ с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3459480"/>
            <a:ext cx="3352648" cy="1219200"/>
          </a:xfrm>
          <a:prstGeom prst="roundRect">
            <a:avLst>
              <a:gd name="adj" fmla="val 6000"/>
            </a:avLst>
          </a:prstGeom>
          <a:solidFill>
            <a:srgbClr val="151A2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37760" y="3624072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CatBoost + PyTorch GRU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937760" y="3989832"/>
            <a:ext cx="2895448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ансамбль табличных признаков и трека, обучение на RTX 3080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90408" y="3459480"/>
            <a:ext cx="3352648" cy="1219200"/>
          </a:xfrm>
          <a:prstGeom prst="roundRect">
            <a:avLst>
              <a:gd name="adj" fmla="val 6000"/>
            </a:avLst>
          </a:prstGeom>
          <a:solidFill>
            <a:srgbClr val="151A2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19008" y="3624072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Свой NDTP-кодек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519008" y="3989832"/>
            <a:ext cx="2895448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байт-в-байт с официальным эмулятором, CRC, ресинхронизация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09160" y="4907280"/>
            <a:ext cx="3352648" cy="1219200"/>
          </a:xfrm>
          <a:prstGeom prst="roundRect">
            <a:avLst>
              <a:gd name="adj" fmla="val 6000"/>
            </a:avLst>
          </a:prstGeom>
          <a:solidFill>
            <a:srgbClr val="151A2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37760" y="5071872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200+ автотестов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5437632"/>
            <a:ext cx="2895448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анти-утечка, инвариант горизонта, E2E по TCP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290408" y="4907280"/>
            <a:ext cx="3352648" cy="1219200"/>
          </a:xfrm>
          <a:prstGeom prst="roundRect">
            <a:avLst>
              <a:gd name="adj" fmla="val 6000"/>
            </a:avLst>
          </a:prstGeom>
          <a:solidFill>
            <a:srgbClr val="151A2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519008" y="5071872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Drawer ТС и «Система»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8519008" y="5437632"/>
            <a:ext cx="2895448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график отклонения и остановки ±60 мин; латентности, приём NDTP, пакет в hex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 ·  ЧТО ДАЛЬШЕ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Готово к реальному парку 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дальше больше данных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1600200" y="3108960"/>
            <a:ext cx="8991295" cy="0"/>
          </a:xfrm>
          <a:prstGeom prst="line">
            <a:avLst/>
          </a:prstGeom>
          <a:noFill/>
          <a:ln w="25400">
            <a:solidFill>
              <a:srgbClr val="2A33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3040" y="2971800"/>
            <a:ext cx="274320" cy="274320"/>
          </a:xfrm>
          <a:prstGeom prst="ellipse">
            <a:avLst/>
          </a:prstGeom>
          <a:solidFill>
            <a:srgbClr val="2FBF71"/>
          </a:solidFill>
          <a:ln w="25400">
            <a:solidFill>
              <a:srgbClr val="2FBF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BF7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Данные за месяцы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дообучение без остановки сервиса: ML stateless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10864" y="2971800"/>
            <a:ext cx="274320" cy="274320"/>
          </a:xfrm>
          <a:prstGeom prst="ellipse">
            <a:avLst/>
          </a:prstGeom>
          <a:solidFill>
            <a:srgbClr val="0E1116"/>
          </a:solidFill>
          <a:ln w="25400">
            <a:solidFill>
              <a:srgbClr val="8B93A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96464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GTFS-RT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96464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стандартный фид для внешних систем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58688" y="2971800"/>
            <a:ext cx="274320" cy="274320"/>
          </a:xfrm>
          <a:prstGeom prst="ellipse">
            <a:avLst/>
          </a:prstGeom>
          <a:solidFill>
            <a:srgbClr val="0E1116"/>
          </a:solidFill>
          <a:ln w="25400">
            <a:solidFill>
              <a:srgbClr val="8B93A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44288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Светофорные фазы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044288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причина «затор» точнее на перекрёстках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06511" y="2971800"/>
            <a:ext cx="274320" cy="274320"/>
          </a:xfrm>
          <a:prstGeom prst="ellipse">
            <a:avLst/>
          </a:prstGeom>
          <a:solidFill>
            <a:srgbClr val="0E1116"/>
          </a:solidFill>
          <a:ln w="25400">
            <a:solidFill>
              <a:srgbClr val="8B93A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92111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Сетевые признаки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292111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соседи на перегоне — когда маршруты пересекаются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454335" y="2971800"/>
            <a:ext cx="274320" cy="274320"/>
          </a:xfrm>
          <a:prstGeom prst="ellipse">
            <a:avLst/>
          </a:prstGeom>
          <a:solidFill>
            <a:srgbClr val="0E1116"/>
          </a:solidFill>
          <a:ln w="25400">
            <a:solidFill>
              <a:srgbClr val="8B93A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539935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Пассажиропоток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539935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дверные датчики: ячейки IRMA и «Корона» NDTP уже поддержаны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16636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151A2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16636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Масштабирование уже заложено: </a:t>
            </a:r>
            <a:pPr indent="0" marL="0"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ML-сервис stateless и растёт репликами, приём и прогнозы разделены очередью, SHAP считается только для рискованных ТС.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inx/Desktop/transit-pulse/.claude/worktrees/agent-a1ec232645154e152/docs/pitch/img/card_fu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>
              <a:alpha val="8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2296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FBF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ПОТОК ИДЁТ  ·  localhost:8080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6304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Демо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926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Живой поток NDTP, день 06.01.2026 на скорости ×30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7947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0:00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пульт: карта и лента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519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0:40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4251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красный инцидент: за 11 мин до события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7091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1:20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63040" y="4709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what-if и «Принять»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1663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1:55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5166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обрыв потока → DEGRADED → LIVE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235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2:35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5623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NDTP-пакет в hex, Swagger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Transit Pulse — питч</dc:title>
  <dc:subject>PptxGenJS Presentation</dc:subject>
  <dc:creator>Команда Transit Pulse</dc:creator>
  <cp:lastModifiedBy>Команда Transit Pulse</cp:lastModifiedBy>
  <cp:revision>1</cp:revision>
  <dcterms:created xsi:type="dcterms:W3CDTF">2026-09-27T00:38:30Z</dcterms:created>
  <dcterms:modified xsi:type="dcterms:W3CDTF">2026-09-27T00:38:30Z</dcterms:modified>
</cp:coreProperties>
</file>