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[~10 с] Добрый день! Мы — Transit Pulse: система, которая предупреждает диспетчера о задержке за 10–15 минут до того, как она случится, и говорит, почему и что делать.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[~20 с] Сегодня диспетчер узнаёт об опоздании, когда автобус уже опоздал. Реакция постфактум — и задержка переходит на следующие рейсы, эффект домино. А придержать, дать резервный выпуск или пустить объездом нужно за 10–15 минут до события. Этого окна сейчас нет — мы его даём.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[~25 с] Телематика приходит потоком по протоколу NDTP, как от настоящих бортов. Backend накладывает каждую точку на нитку графика и считает признаки, ML-ядро прогнозирует задержку на остановках через 10–15 минут, дашборд показывает алерт с причиной и рекомендацией. Три независимых модуля в Docker, поднимаются одной командой docker compose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[~35 с] Прежде чем строить модель, мы проверили данные и нашли утечку ответа: факт прибытия по всем 151 целевой остановке validate лежит в расписании test и train. С ней ошибка была бы почти нулевой. Мы её не используем — колонка факта физически не попадает в признаки, это проверяет тест; по факту мы только один раз оценили шкалу метрики. Ещё две находки: синтетические автобусы — клоны реальных, в том числе в моменты validate, поэтому кросс-валидацию считаем с защитой от клонов, а отдельный сабмит обучили без этих копий — он тоже дал 1.0. А маршруты почти не пересекаются — 5 общих остановок из 847, поэтому сетевых признаков мы честно не строим.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[~35 с] Ядро — CatBoost по квантилям плюс GRU по треку телеметрии, 28 признаков на момент T. Верхняя строка таблицы — как на лидерборде: 52 секунды. Нижняя — честный «новый день» без клонов: 67 секунд против 88 у baseline организаторов, минус 24 процента. Квантили дают прогноз, вероятность опоздания и интервал — и мы их откалибровали: ошибка вероятности ECE упала с 0.11 до 0.03, а интервал держит 80 процентов на каждой минуте упреждения, раньше на 13–15 минутах было только 65. На платформе все ML-сабмиты дали скор 1.0 — в том числе обученный без копий моментов validate.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[~35 с] Главное — горизонт. На потоке мы прогнозируем все остановки в окне 10–15 минут; задним числом алерт не бывает никогда. Мы проиграли весь день через настоящий путь NDTP — backend — ML и сверили с реальной разметкой: прогноз есть для всех 353 точек, 100 процентов прогнозов строго в окне, поток и офлайн совпадают до 0.03 секунды, честная ошибка на потоке — 78 секунд против 93 у подсказки организаторов. Алерт открывается, только если условие держится три прохода подряд — так мы отсекаем мигающие красные: за день 162 инцидента, у 96 процентов опоздавших рейсов был алерт, все — за 10 минут и раньше.
Если спросят «сколько ложных алертов?»: честно, на прогнозах моделей, не видевших этот день, — 0.86 алерта на машину в час, точность 49 процентов, то есть примерно каждый второй алерт подтверждается опозданием больше двух минут; было 1.24 и 41 процент, при этом 85 процентов опоздавших рейсов по-прежнему с алертом. 67 процентов точности на потоке — это финальная модель, которая видела test, эту цифру мы честной не считаем. Пороги вынесены в настройки: диспетчерская может выбрать меньше алертов ценой полноты.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[~20 с] Алерт — не просто «опоздает». SHAP-вклады превращаются в причину из справочника с доказательствами в цифрах, к ней — одна-три рекомендации с кнопкой «Принять». What-if показывает эффект меры до её применения: здесь резервный выпуск переводит цель из жёлтого в зелёный, вероятность опоздания падает с 36 до 28 процентов.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[~25 с] Инференс — полторы миллисекунды на батч из 30 машин, на потоке весь батч ML — 54 миллисекунды, проход прогнозов до рассылки — 238 по p95; от пакета NDTP до дашборда — меньше секунды. Под нагрузкой — 300 TCP-соединений и ноль потерь. Справа — панель «Система» прямо из дашборда: ноль потерь, ноль ошибок CRC, все алерты — за 10 минут и раньше. Оборвался поток — DEGRADED; упал ML — эвристика; рестарт backend — борта переподключаются сами. Холодный старт — 17 с половиной секунд.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[~15 с] Все дополнительные фичи из ТЗ сделаны: map-matching с учётом специфики NDTP — в 1.9 раза точнее, what-if, ONNX, ансамбль CatBoost и PyTorch GRU, собственный NDTP-кодек, больше двухсот автотестов, drawer ТС и панель «Система». И честно о том, что не взяли: отклонение по нитке как признак дало минус 1.3 секунды при нашем пороге внедрения 2 секунды, а GRU в ансамбле — всего минус 0.2 секунды.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[~15 с] Дальше — данные за месяцы и дообучение без остановки сервиса, выдача GTFS-RT, светофорные фазы, сетевые признаки и пассажиропоток по дверным датчикам: ячейки IRMA и «Корона» NDTP уже поддерживаются. А теперь — живое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Переходим к демо (3 минуты). 0:00 — общий вид пульта: сверху сим-время и режим потока, данные идут по NDTP; цвет и форма маркера — уровень риска. 0:20 — лента отсортирована по тому, сколько минут осталось до события. 0:40 — открыть красный инцидент: прогноз ± ошибка, вероятность, алерт создан за 11 минут до события; причина и доказательства; участок подсвечен на карте. 1:20 — What-if «Резервный выпуск»: эффект до применения меры. 1:40 — «Принять». 1:55 — docker compose stop replayer: через 30 с баннер «Поток прерван», карта жива; docker compose start replayer — «Поток идёт». 2:35 — Swagger :8000/docs или /api/v1/ingest/stats: последний NDTP-пакет в hex, ноль ошибок CRC. 2:50 — «Всё поднимается одной командой, инструкция в README». Резерв: запись экрана.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inx/Desktop/transit-pulse/docs/pitch/img/overvi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>
              <a:alpha val="7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7498080" cy="6858000"/>
          </a:xfrm>
          <a:prstGeom prst="rect">
            <a:avLst/>
          </a:prstGeom>
          <a:solidFill>
            <a:srgbClr val="0E1116">
              <a:alpha val="88000"/>
            </a:srgbClr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ХАКАТОН МОСКОВСКОГО ТРАНСПОРТА  ·  27.09.2026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01168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Transit Pulse</a:t>
            </a:r>
            <a:endParaRPr lang="en-US" sz="6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24612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Предупреждаем диспетчера о задержке транспорта за 10–15 минут — до того, как она случилась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48640" y="5001768"/>
            <a:ext cx="155448" cy="155448"/>
          </a:xfrm>
          <a:prstGeom prst="triangle">
            <a:avLst/>
          </a:prstGeom>
          <a:solidFill>
            <a:srgbClr val="E5484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95528" y="49377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опоздание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943100" y="5001768"/>
            <a:ext cx="155448" cy="155448"/>
          </a:xfrm>
          <a:prstGeom prst="diamond">
            <a:avLst/>
          </a:prstGeom>
          <a:solidFill>
            <a:srgbClr val="F2B13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89988" y="49377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риск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903220" y="5001768"/>
            <a:ext cx="155448" cy="155448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50108" y="49377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в графике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97680" y="5001768"/>
            <a:ext cx="155448" cy="155448"/>
          </a:xfrm>
          <a:prstGeom prst="ellipse">
            <a:avLst/>
          </a:prstGeom>
          <a:ln w="25400">
            <a:solidFill>
              <a:srgbClr val="3E9B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44568" y="49377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раньше графика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897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NDTP  →  backend  →  ML  →  дашборд диспетчера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triangle">
            <a:avLst/>
          </a:prstGeom>
          <a:solidFill>
            <a:srgbClr val="E548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 ·  ПРОБЛЕМА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Диспетчер узнаёт об опоздании,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когда автобус уже опоздал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8848578" y="2331720"/>
            <a:ext cx="0" cy="3246120"/>
          </a:xfrm>
          <a:prstGeom prst="line">
            <a:avLst/>
          </a:prstGeom>
          <a:noFill/>
          <a:ln w="12700">
            <a:solidFill>
              <a:srgbClr val="5B6472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751298" y="20574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плановое прибытие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803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Сегодня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2278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реакция постфактум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34640" y="3154680"/>
            <a:ext cx="8686800" cy="0"/>
          </a:xfrm>
          <a:prstGeom prst="line">
            <a:avLst/>
          </a:prstGeom>
          <a:noFill/>
          <a:ln w="25400">
            <a:solidFill>
              <a:srgbClr val="2A33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21724" y="3026664"/>
            <a:ext cx="256032" cy="256032"/>
          </a:xfrm>
          <a:prstGeom prst="triangle">
            <a:avLst/>
          </a:prstGeom>
          <a:solidFill>
            <a:srgbClr val="E5484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52460" y="25877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548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узнал об опоздании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911393" y="3081528"/>
            <a:ext cx="146304" cy="146304"/>
          </a:xfrm>
          <a:prstGeom prst="ellipse">
            <a:avLst/>
          </a:prstGeom>
          <a:solidFill>
            <a:srgbClr val="E5484D">
              <a:alpha val="7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445965" y="3081528"/>
            <a:ext cx="146304" cy="146304"/>
          </a:xfrm>
          <a:prstGeom prst="ellipse">
            <a:avLst/>
          </a:prstGeom>
          <a:solidFill>
            <a:srgbClr val="E5484D">
              <a:alpha val="53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0980537" y="3081528"/>
            <a:ext cx="146304" cy="146304"/>
          </a:xfrm>
          <a:prstGeom prst="ellipse">
            <a:avLst/>
          </a:prstGeom>
          <a:solidFill>
            <a:srgbClr val="E5484D">
              <a:alpha val="31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784080" y="3337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эффект домино на маршруте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5262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E9B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Transit Pulse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8737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алерт заранее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836963" y="4507992"/>
            <a:ext cx="1670538" cy="585216"/>
          </a:xfrm>
          <a:prstGeom prst="rect">
            <a:avLst/>
          </a:prstGeom>
          <a:solidFill>
            <a:srgbClr val="3E9BFF">
              <a:alpha val="22000"/>
            </a:srgbClr>
          </a:solidFill>
          <a:ln w="12700">
            <a:solidFill>
              <a:srgbClr val="3E9B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288323" y="4178808"/>
            <a:ext cx="2767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окно алерта 10–15 мин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834640" y="4800600"/>
            <a:ext cx="8686800" cy="0"/>
          </a:xfrm>
          <a:prstGeom prst="line">
            <a:avLst/>
          </a:prstGeom>
          <a:noFill/>
          <a:ln w="25400">
            <a:solidFill>
              <a:srgbClr val="2A334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1270" y="4672584"/>
            <a:ext cx="256032" cy="256032"/>
          </a:xfrm>
          <a:prstGeom prst="ellipse">
            <a:avLst/>
          </a:prstGeom>
          <a:ln w="25400">
            <a:solidFill>
              <a:srgbClr val="3E9B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2166" y="4800600"/>
            <a:ext cx="3753260" cy="914"/>
          </a:xfrm>
          <a:prstGeom prst="line">
            <a:avLst/>
          </a:prstGeom>
          <a:noFill/>
          <a:ln w="38100">
            <a:solidFill>
              <a:srgbClr val="2FBF71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5641145" y="5001768"/>
            <a:ext cx="5584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FBF7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время на меру: придержать · резервный выпуск · объезд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3288323" y="56692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−15 мин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958862" y="56692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−10 мин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29400" y="56692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−5 мин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299938" y="56692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970477" y="56692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+5 мин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ellipse">
            <a:avLst/>
          </a:prstGeom>
          <a:ln w="25400">
            <a:solidFill>
              <a:srgbClr val="3E9B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 ·  РЕШЕНИЕ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Ранний алерт с причиной и рекомендацией —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на живом потоке телематики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3063240"/>
            <a:ext cx="2148840" cy="1600200"/>
          </a:xfrm>
          <a:prstGeom prst="roundRect">
            <a:avLst>
              <a:gd name="adj" fmla="val 4571"/>
            </a:avLst>
          </a:prstGeom>
          <a:solidFill>
            <a:srgbClr val="151A22"/>
          </a:solidFill>
          <a:ln w="12700">
            <a:solidFill>
              <a:srgbClr val="2A33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32461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Поток NDTP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685032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30 бортов · TCP :9201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replayer или официальный эмулятор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54680" y="2103120"/>
            <a:ext cx="8488375" cy="4160520"/>
          </a:xfrm>
          <a:prstGeom prst="roundRect">
            <a:avLst>
              <a:gd name="adj" fmla="val 2637"/>
            </a:avLst>
          </a:prstGeom>
          <a:solidFill>
            <a:srgbClr val="0E1116"/>
          </a:solidFill>
          <a:ln w="12700">
            <a:solidFill>
              <a:srgbClr val="5B6472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3383280" y="22677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 docker compose up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299655" y="226771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 модуля · healthcheck · готово за 17.5 с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474720" y="2697480"/>
            <a:ext cx="3566160" cy="3246120"/>
          </a:xfrm>
          <a:prstGeom prst="roundRect">
            <a:avLst>
              <a:gd name="adj" fmla="val 2254"/>
            </a:avLst>
          </a:prstGeom>
          <a:solidFill>
            <a:srgbClr val="1C2330"/>
          </a:solidFill>
          <a:ln w="19050">
            <a:solidFill>
              <a:srgbClr val="3E9BFF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749040" y="29260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backend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852160" y="299008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:8000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749040" y="3566160"/>
            <a:ext cx="3108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приём и разбор NDTP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привязка к нитке графика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признаки на момент 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инциденты, REST + WebSocket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001000" y="269748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9050">
            <a:solidFill>
              <a:srgbClr val="F2B134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75320" y="28803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ml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0424160" y="294436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:8001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41071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CatBoost q10/q50/q90 + GRU (ONNX)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SHAP-вклады → причина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01000" y="448056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9050">
            <a:solidFill>
              <a:srgbClr val="2FBF71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75320" y="46634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dashboard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0" y="472744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:8080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275320" y="519379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карта · лента инцидентов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карточка · what-if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0" y="3863340"/>
            <a:ext cx="685800" cy="914"/>
          </a:xfrm>
          <a:prstGeom prst="line">
            <a:avLst/>
          </a:prstGeom>
          <a:noFill/>
          <a:ln w="31750">
            <a:solidFill>
              <a:srgbClr val="3E9BFF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086600" y="3429000"/>
            <a:ext cx="868680" cy="914"/>
          </a:xfrm>
          <a:prstGeom prst="line">
            <a:avLst/>
          </a:prstGeom>
          <a:noFill/>
          <a:ln w="25400">
            <a:solidFill>
              <a:srgbClr val="F2B134"/>
            </a:solidFill>
            <a:prstDash val="solid"/>
            <a:headEnd type="triangle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7132320" y="30998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HTTP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86600" y="5212080"/>
            <a:ext cx="868680" cy="914"/>
          </a:xfrm>
          <a:prstGeom prst="line">
            <a:avLst/>
          </a:prstGeom>
          <a:noFill/>
          <a:ln w="25400">
            <a:solidFill>
              <a:srgbClr val="2FBF71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7132320" y="488289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diamond">
            <a:avLst/>
          </a:prstGeom>
          <a:solidFill>
            <a:srgbClr val="F2B1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 ·  АУДИТ ДАННЫХ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Утечку ответа нашли —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в признаки и обучение она не попадает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E548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151/151</a:t>
            </a:r>
            <a:endParaRPr lang="en-US" sz="9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4904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целевых остановок validate лежат с фактом прибытия в test/ и train/schedule, а телеметрия validate побайтно совпадает с test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84632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 утечкой ошибка была бы почти нулевой. Модель, которая так учится, бесполезна на живом потоке.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2331720"/>
            <a:ext cx="5242255" cy="1024128"/>
          </a:xfrm>
          <a:prstGeom prst="roundRect">
            <a:avLst>
              <a:gd name="adj" fmla="val 7143"/>
            </a:avLst>
          </a:prstGeom>
          <a:solidFill>
            <a:srgbClr val="151A22"/>
          </a:solidFill>
          <a:ln/>
        </p:spPr>
      </p:sp>
      <p:sp>
        <p:nvSpPr>
          <p:cNvPr id="10" name="Shape 8"/>
          <p:cNvSpPr/>
          <p:nvPr/>
        </p:nvSpPr>
        <p:spPr>
          <a:xfrm>
            <a:off x="6656832" y="2606040"/>
            <a:ext cx="219456" cy="219456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086600" y="2514600"/>
            <a:ext cx="4373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Факт не попадает в признаки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086600" y="2852928"/>
            <a:ext cx="4373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Загрузчик не читает колонку факта — это проверяет тест. По факту лишь оценили шкалу метрики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3520440"/>
            <a:ext cx="5242255" cy="1024128"/>
          </a:xfrm>
          <a:prstGeom prst="roundRect">
            <a:avLst>
              <a:gd name="adj" fmla="val 7143"/>
            </a:avLst>
          </a:prstGeom>
          <a:solidFill>
            <a:srgbClr val="151A22"/>
          </a:solidFill>
          <a:ln/>
        </p:spPr>
      </p:sp>
      <p:sp>
        <p:nvSpPr>
          <p:cNvPr id="14" name="Shape 12"/>
          <p:cNvSpPr/>
          <p:nvPr/>
        </p:nvSpPr>
        <p:spPr>
          <a:xfrm>
            <a:off x="6656832" y="3794760"/>
            <a:ext cx="219456" cy="219456"/>
          </a:xfrm>
          <a:prstGeom prst="diamond">
            <a:avLst/>
          </a:prstGeom>
          <a:solidFill>
            <a:srgbClr val="F2B1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086600" y="3703320"/>
            <a:ext cx="4373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Синтетика — клоны реальных ТС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086600" y="4041648"/>
            <a:ext cx="4373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Корреляция 0.88–0.99 → CV с защитой от клонов; сабмит v3 без копий моментов validate — тоже 1.0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0" y="4709160"/>
            <a:ext cx="5242255" cy="1024128"/>
          </a:xfrm>
          <a:prstGeom prst="roundRect">
            <a:avLst>
              <a:gd name="adj" fmla="val 7143"/>
            </a:avLst>
          </a:prstGeom>
          <a:solidFill>
            <a:srgbClr val="151A22"/>
          </a:solidFill>
          <a:ln/>
        </p:spPr>
      </p:sp>
      <p:sp>
        <p:nvSpPr>
          <p:cNvPr id="18" name="Shape 16"/>
          <p:cNvSpPr/>
          <p:nvPr/>
        </p:nvSpPr>
        <p:spPr>
          <a:xfrm>
            <a:off x="6656832" y="4983480"/>
            <a:ext cx="219456" cy="219456"/>
          </a:xfrm>
          <a:prstGeom prst="ellipse">
            <a:avLst/>
          </a:prstGeom>
          <a:ln w="25400">
            <a:solidFill>
              <a:srgbClr val="3E9B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086600" y="4892040"/>
            <a:ext cx="4373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Маршруты не пересекаются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086600" y="5230368"/>
            <a:ext cx="4373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 общих остановок из 847 → сетевые признаки не строим: соседей на перегоне нет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diamond">
            <a:avLst/>
          </a:prstGeom>
          <a:solidFill>
            <a:srgbClr val="F2B1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 ·  ML-ЯДРО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Ошибка на 24% ниже baseline —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даже в честной оценке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74066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280160"/>
                <a:gridCol w="1234440"/>
                <a:gridCol w="12344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MAE, с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Baseline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организаторов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LightGBM v1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CatBoost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Ансамбль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11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6EA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Как на лидерборде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клоны в train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8B93A1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88.4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E6EAF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62.0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E6EAF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52.1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E6EAF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51.9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BF7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Честно, «новый день»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без клонов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8B93A1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88.4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E6EAF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69.4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2FBF71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67.1</a:t>
                      </a:r>
                      <a:endParaRPr lang="en-US" sz="24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E6EAF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66.4*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0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47548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1 494 точки · 3×5 GroupKFold (ТС, 30 мин) · * с LightGBM · платформа 1.0, и без клонов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23036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КАЛИБРОВКА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486400"/>
            <a:ext cx="234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0.154 → </a:t>
            </a:r>
            <a:pPr indent="0" marL="0">
              <a:buNone/>
            </a:pPr>
            <a:r>
              <a:rPr lang="en-US" sz="2000" b="1" dirty="0">
                <a:solidFill>
                  <a:srgbClr val="2FBF7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0.140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897880"/>
            <a:ext cx="234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Brier p_late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3078480" y="5486400"/>
            <a:ext cx="234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0.111 → </a:t>
            </a:r>
            <a:pPr indent="0" marL="0">
              <a:buNone/>
            </a:pPr>
            <a:r>
              <a:rPr lang="en-US" sz="2000" b="1" dirty="0">
                <a:solidFill>
                  <a:srgbClr val="2FBF7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0.033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3078480" y="5897880"/>
            <a:ext cx="234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ECE p_late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608320" y="5486400"/>
            <a:ext cx="234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65% → </a:t>
            </a:r>
            <a:pPr indent="0" marL="0">
              <a:buNone/>
            </a:pPr>
            <a:r>
              <a:rPr lang="en-US" sz="2000" b="1" dirty="0">
                <a:solidFill>
                  <a:srgbClr val="2FBF7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80%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5608320" y="5897880"/>
            <a:ext cx="234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Интервал 80% на 13–15 мин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458200" y="2286000"/>
            <a:ext cx="3184855" cy="914400"/>
          </a:xfrm>
          <a:prstGeom prst="roundRect">
            <a:avLst>
              <a:gd name="adj" fmla="val 8000"/>
            </a:avLst>
          </a:prstGeom>
          <a:solidFill>
            <a:srgbClr val="151A22"/>
          </a:solidFill>
          <a:ln w="15875">
            <a:solidFill>
              <a:srgbClr val="2A334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59368" y="2414016"/>
            <a:ext cx="2819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28 признаков на момент 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659368" y="2743200"/>
            <a:ext cx="2864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расписание · GPS · отставание от нитки · ETA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0050628" y="3218688"/>
            <a:ext cx="914" cy="237744"/>
          </a:xfrm>
          <a:prstGeom prst="line">
            <a:avLst/>
          </a:prstGeom>
          <a:noFill/>
          <a:ln w="19050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8458200" y="3474720"/>
            <a:ext cx="3184855" cy="914400"/>
          </a:xfrm>
          <a:prstGeom prst="roundRect">
            <a:avLst>
              <a:gd name="adj" fmla="val 8000"/>
            </a:avLst>
          </a:prstGeom>
          <a:solidFill>
            <a:srgbClr val="151A22"/>
          </a:solidFill>
          <a:ln w="15875">
            <a:solidFill>
              <a:srgbClr val="F2B13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659368" y="3602736"/>
            <a:ext cx="2819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CatBoost по квантилям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659368" y="3931920"/>
            <a:ext cx="2864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q10 / q50 / q90 + GRU по 20 мин трека (ONNX)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0050628" y="4407408"/>
            <a:ext cx="914" cy="237744"/>
          </a:xfrm>
          <a:prstGeom prst="line">
            <a:avLst/>
          </a:prstGeom>
          <a:noFill/>
          <a:ln w="19050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8458200" y="4663440"/>
            <a:ext cx="3184855" cy="914400"/>
          </a:xfrm>
          <a:prstGeom prst="roundRect">
            <a:avLst>
              <a:gd name="adj" fmla="val 8000"/>
            </a:avLst>
          </a:prstGeom>
          <a:solidFill>
            <a:srgbClr val="151A22"/>
          </a:solidFill>
          <a:ln w="15875">
            <a:solidFill>
              <a:srgbClr val="2FBF7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59368" y="4791456"/>
            <a:ext cx="2819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Прогноз для диспетчера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659368" y="5120640"/>
            <a:ext cx="2864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задержка · калиброванная P(опоздание &gt; 2 мин) · интервал 80%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ellipse">
            <a:avLst/>
          </a:prstGeom>
          <a:ln w="25400">
            <a:solidFill>
              <a:srgbClr val="3E9B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 ·  ГОРИЗОНТ НА ПОТОКЕ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Каждый алерт — строго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за 10–15 минут до события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6035040" cy="3246120"/>
          </a:xfrm>
          <a:prstGeom prst="roundRect">
            <a:avLst>
              <a:gd name="adj" fmla="val 2254"/>
            </a:avLst>
          </a:prstGeom>
          <a:solidFill>
            <a:srgbClr val="151A2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286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Прогнозы на потоке по упреждению, 06.01.2026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11880" y="3108960"/>
            <a:ext cx="1303020" cy="1554480"/>
          </a:xfrm>
          <a:prstGeom prst="rect">
            <a:avLst/>
          </a:prstGeom>
          <a:solidFill>
            <a:srgbClr val="3E9BFF">
              <a:alpha val="1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639312" y="3436453"/>
            <a:ext cx="205740" cy="1226987"/>
          </a:xfrm>
          <a:prstGeom prst="rect">
            <a:avLst/>
          </a:prstGeom>
          <a:solidFill>
            <a:srgbClr val="3E9BFF"/>
          </a:solidFill>
          <a:ln/>
        </p:spPr>
      </p:sp>
      <p:sp>
        <p:nvSpPr>
          <p:cNvPr id="10" name="Shape 8"/>
          <p:cNvSpPr/>
          <p:nvPr/>
        </p:nvSpPr>
        <p:spPr>
          <a:xfrm>
            <a:off x="3899916" y="3436686"/>
            <a:ext cx="205740" cy="1226754"/>
          </a:xfrm>
          <a:prstGeom prst="rect">
            <a:avLst/>
          </a:prstGeom>
          <a:solidFill>
            <a:srgbClr val="3E9BFF"/>
          </a:solidFill>
          <a:ln/>
        </p:spPr>
      </p:sp>
      <p:sp>
        <p:nvSpPr>
          <p:cNvPr id="11" name="Shape 9"/>
          <p:cNvSpPr/>
          <p:nvPr/>
        </p:nvSpPr>
        <p:spPr>
          <a:xfrm>
            <a:off x="4160520" y="3436220"/>
            <a:ext cx="205740" cy="1227220"/>
          </a:xfrm>
          <a:prstGeom prst="rect">
            <a:avLst/>
          </a:prstGeom>
          <a:solidFill>
            <a:srgbClr val="3E9BFF"/>
          </a:solidFill>
          <a:ln/>
        </p:spPr>
      </p:sp>
      <p:sp>
        <p:nvSpPr>
          <p:cNvPr id="12" name="Shape 10"/>
          <p:cNvSpPr/>
          <p:nvPr/>
        </p:nvSpPr>
        <p:spPr>
          <a:xfrm>
            <a:off x="4421124" y="3436686"/>
            <a:ext cx="205740" cy="1226754"/>
          </a:xfrm>
          <a:prstGeom prst="rect">
            <a:avLst/>
          </a:prstGeom>
          <a:solidFill>
            <a:srgbClr val="3E9BFF"/>
          </a:solidFill>
          <a:ln/>
        </p:spPr>
      </p:sp>
      <p:sp>
        <p:nvSpPr>
          <p:cNvPr id="13" name="Shape 11"/>
          <p:cNvSpPr/>
          <p:nvPr/>
        </p:nvSpPr>
        <p:spPr>
          <a:xfrm>
            <a:off x="4681728" y="3437152"/>
            <a:ext cx="205740" cy="1226288"/>
          </a:xfrm>
          <a:prstGeom prst="rect">
            <a:avLst/>
          </a:prstGeom>
          <a:solidFill>
            <a:srgbClr val="3E9B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154680" y="2651760"/>
            <a:ext cx="2217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26 336 прогнозов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(10, 15] мин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66444" y="4251960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 прогнозов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45202" y="4251960"/>
            <a:ext cx="11727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05840" y="4663440"/>
            <a:ext cx="5212080" cy="0"/>
          </a:xfrm>
          <a:prstGeom prst="line">
            <a:avLst/>
          </a:prstGeom>
          <a:noFill/>
          <a:ln w="12700">
            <a:solidFill>
              <a:srgbClr val="5B647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73659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034540" y="473659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337560" y="473659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640580" y="473659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73659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4992624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минут до планового прибытия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858000" y="2103120"/>
            <a:ext cx="2278228" cy="1508760"/>
          </a:xfrm>
          <a:prstGeom prst="roundRect">
            <a:avLst>
              <a:gd name="adj" fmla="val 4848"/>
            </a:avLst>
          </a:prstGeom>
          <a:solidFill>
            <a:srgbClr val="151A2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086600" y="2240280"/>
            <a:ext cx="19124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353/353</a:t>
            </a:r>
            <a:endParaRPr lang="en-US" sz="3200" dirty="0"/>
          </a:p>
        </p:txBody>
      </p:sp>
      <p:sp>
        <p:nvSpPr>
          <p:cNvPr id="26" name="Text 24"/>
          <p:cNvSpPr txBox="1"/>
          <p:nvPr/>
        </p:nvSpPr>
        <p:spPr>
          <a:xfrm>
            <a:off x="7086600" y="2907792"/>
            <a:ext cx="19124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точек разметки labels_test получили прогноз цели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364828" y="2103120"/>
            <a:ext cx="2278228" cy="1508760"/>
          </a:xfrm>
          <a:prstGeom prst="roundRect">
            <a:avLst>
              <a:gd name="adj" fmla="val 4848"/>
            </a:avLst>
          </a:prstGeom>
          <a:solidFill>
            <a:srgbClr val="151A2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593428" y="2240280"/>
            <a:ext cx="19124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2B13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0.86</a:t>
            </a:r>
            <a:endParaRPr lang="en-US" sz="3200" dirty="0"/>
          </a:p>
        </p:txBody>
      </p:sp>
      <p:sp>
        <p:nvSpPr>
          <p:cNvPr id="29" name="Text 27"/>
          <p:cNvSpPr txBox="1"/>
          <p:nvPr/>
        </p:nvSpPr>
        <p:spPr>
          <a:xfrm>
            <a:off x="9593428" y="2907792"/>
            <a:ext cx="19124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алертов на ТС·ч, честно (было 1.24); точность 41% → 49%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858000" y="3840480"/>
            <a:ext cx="2278228" cy="1508760"/>
          </a:xfrm>
          <a:prstGeom prst="roundRect">
            <a:avLst>
              <a:gd name="adj" fmla="val 4848"/>
            </a:avLst>
          </a:prstGeom>
          <a:solidFill>
            <a:srgbClr val="151A2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086600" y="3977640"/>
            <a:ext cx="19124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0.03 с</a:t>
            </a:r>
            <a:endParaRPr lang="en-US" sz="3200" dirty="0"/>
          </a:p>
        </p:txBody>
      </p:sp>
      <p:sp>
        <p:nvSpPr>
          <p:cNvPr id="32" name="Text 30"/>
          <p:cNvSpPr txBox="1"/>
          <p:nvPr/>
        </p:nvSpPr>
        <p:spPr>
          <a:xfrm>
            <a:off x="7086600" y="4645152"/>
            <a:ext cx="19124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паритет офлайн / поток — признаки те же, что при обучении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364828" y="3840480"/>
            <a:ext cx="2278228" cy="1508760"/>
          </a:xfrm>
          <a:prstGeom prst="roundRect">
            <a:avLst>
              <a:gd name="adj" fmla="val 4848"/>
            </a:avLst>
          </a:prstGeom>
          <a:solidFill>
            <a:srgbClr val="151A2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593428" y="3977640"/>
            <a:ext cx="19124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FBF7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78 с</a:t>
            </a:r>
            <a:endParaRPr lang="en-US" sz="3200" dirty="0"/>
          </a:p>
        </p:txBody>
      </p:sp>
      <p:sp>
        <p:nvSpPr>
          <p:cNvPr id="35" name="Text 33"/>
          <p:cNvSpPr txBox="1"/>
          <p:nvPr/>
        </p:nvSpPr>
        <p:spPr>
          <a:xfrm>
            <a:off x="9593428" y="4645152"/>
            <a:ext cx="19124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MAE на потоке против 93 у подсказки организаторов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48640" y="5532120"/>
            <a:ext cx="11094415" cy="731520"/>
          </a:xfrm>
          <a:prstGeom prst="roundRect">
            <a:avLst>
              <a:gd name="adj" fmla="val 10000"/>
            </a:avLst>
          </a:prstGeom>
          <a:solidFill>
            <a:srgbClr val="1C2330"/>
          </a:solidFill>
          <a:ln w="12700">
            <a:solidFill>
              <a:srgbClr val="2A334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2960" y="553212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Алерт — </a:t>
            </a:r>
            <a:pPr indent="0" marL="0">
              <a:buNone/>
            </a:pPr>
            <a:r>
              <a:rPr lang="en-US" sz="13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прохода подряд с прогнозом &gt; 2 мин или калиброванной P ≥ 0.5.  </a:t>
            </a:r>
            <a:pPr indent="0" marL="0">
              <a:buNone/>
            </a:pPr>
            <a:r>
              <a:rPr lang="en-US" sz="13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162 инцидента за день · 96% опоздавших рейсов с алертом · 100% за ≥ 10 мин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triangle">
            <a:avLst/>
          </a:prstGeom>
          <a:solidFill>
            <a:srgbClr val="E548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 ·  ПРИЧИНА И РЕКОМЕНДАЦИЯ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Не просто «опоздает» — почему и что делать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12064" y="1883664"/>
            <a:ext cx="2496951" cy="4416552"/>
          </a:xfrm>
          <a:prstGeom prst="roundRect">
            <a:avLst>
              <a:gd name="adj" fmla="val 2197"/>
            </a:avLst>
          </a:prstGeom>
          <a:solidFill>
            <a:srgbClr val="2A3342"/>
          </a:solidFill>
          <a:ln/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7" name="Image 0" descr="/home/jinx/Desktop/transit-pulse/docs/pitch/img/card_t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2423799" cy="4343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765999" y="1883664"/>
            <a:ext cx="3913632" cy="2751887"/>
          </a:xfrm>
          <a:prstGeom prst="roundRect">
            <a:avLst>
              <a:gd name="adj" fmla="val 1994"/>
            </a:avLst>
          </a:prstGeom>
          <a:solidFill>
            <a:srgbClr val="2A3342"/>
          </a:solidFill>
          <a:ln/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9" name="Image 1" descr="/home/jinx/Desktop/transit-pulse/docs/pitch/img/whatif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2575" y="1920240"/>
            <a:ext cx="3840480" cy="2678735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383919" y="2066544"/>
            <a:ext cx="182880" cy="182880"/>
          </a:xfrm>
          <a:prstGeom prst="triangle">
            <a:avLst/>
          </a:prstGeom>
          <a:solidFill>
            <a:srgbClr val="E5484D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3703959" y="2011680"/>
            <a:ext cx="36871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Прогноз и упреждение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703959" y="2377440"/>
            <a:ext cx="36871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опоздание, «± ошибка», вероятность и за сколько минут до события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3383919" y="3483864"/>
            <a:ext cx="182880" cy="182880"/>
          </a:xfrm>
          <a:prstGeom prst="diamond">
            <a:avLst/>
          </a:prstGeom>
          <a:solidFill>
            <a:srgbClr val="F2B134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3703959" y="3429000"/>
            <a:ext cx="36871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Причина из SHAP-вкладов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3703959" y="3794760"/>
            <a:ext cx="36871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накопленное опоздание, затор на перегоне, долгая стоянка, мало запаса на конечной, опережение, потеря GPS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3383919" y="4901184"/>
            <a:ext cx="182880" cy="182880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3703959" y="4846320"/>
            <a:ext cx="36871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1–3 рекомендации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3703959" y="5212080"/>
            <a:ext cx="36871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 кнопкой «Принять»; инцидент потом закрывается фактом по GPS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7802575" y="4827575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E9B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What-if: </a:t>
            </a:r>
            <a:pPr indent="0" marL="0">
              <a:buNone/>
            </a:pPr>
            <a:r>
              <a:rPr lang="en-US" sz="13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эффект меры до её применения — та же модель пересчитывает прогноз с мерой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 ·  НАДЁЖНОСТЬ И СКОРОСТЬ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Не падает и не тормозит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532110" y="1883664"/>
            <a:ext cx="5147521" cy="4370832"/>
          </a:xfrm>
          <a:prstGeom prst="roundRect">
            <a:avLst>
              <a:gd name="adj" fmla="val 1255"/>
            </a:avLst>
          </a:prstGeom>
          <a:solidFill>
            <a:srgbClr val="2A3342"/>
          </a:solidFill>
          <a:ln/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7" name="Image 0" descr="/home/jinx/Desktop/transit-pulse/docs/pitch/img/syste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8686" y="1920240"/>
            <a:ext cx="5074369" cy="42976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568686" y="6327648"/>
            <a:ext cx="50743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Панель «Система», живой стек: правило алерта, Brier 0.15 → 0.14, 0 потерь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920240"/>
            <a:ext cx="266712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1.5 мс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633472"/>
            <a:ext cx="266712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инференс, батч 30 ТС; батч ML на потоке 54 мс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490083" y="1920240"/>
            <a:ext cx="266712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&lt; 1 с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3490083" y="2633472"/>
            <a:ext cx="266712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пакет → дашборд, p95; прогнозы → WS 238 мс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3200400"/>
            <a:ext cx="266712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FBF7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 потерь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3913632"/>
            <a:ext cx="266712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300 TCP · 757 пакетов/с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3490083" y="3200400"/>
            <a:ext cx="266712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17.5 с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3490083" y="3913632"/>
            <a:ext cx="266712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холодный старт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4480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ЕСЛИ ЧТО-ТО ЛОМАЕТСЯ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487375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0E1116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487375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DEGRADED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920240" y="4800600"/>
            <a:ext cx="42369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Обрыв потока  </a:t>
            </a:r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через 30 с — работа по последнему состоянию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48640" y="542239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0E1116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542239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FALLBACK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920240" y="5349240"/>
            <a:ext cx="42369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Падение ML  </a:t>
            </a:r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circuit breaker → эвристика, карта жива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48640" y="597103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0E1116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597103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BF7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RECONNECT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920240" y="5897880"/>
            <a:ext cx="42369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Рестарт backend  </a:t>
            </a:r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30 бортов переподключаются сами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ellipse">
            <a:avLst/>
          </a:prstGeom>
          <a:ln w="25400">
            <a:solidFill>
              <a:srgbClr val="3E9B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 ·  СВЕРХ ОБЯЗАТЕЛЬНОГО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Все дополнительные фичи из ТЗ — и не только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3931920" cy="3611880"/>
          </a:xfrm>
          <a:prstGeom prst="roundRect">
            <a:avLst>
              <a:gd name="adj" fmla="val 2025"/>
            </a:avLst>
          </a:prstGeom>
          <a:solidFill>
            <a:srgbClr val="1C233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2860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MAP-MATCHING С УЧЁТОМ NDTP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1.9×</a:t>
            </a:r>
            <a:endParaRPr lang="en-US" sz="7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7947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точнее отклонение от нитки графика: MAE 19.4 с против 36.6 с по последней остановке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7091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монотонный прогресс, фильтр valid=0, скачков и «телепортов» · 34 мкс на точку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2011680"/>
            <a:ext cx="3352648" cy="1051560"/>
          </a:xfrm>
          <a:prstGeom prst="roundRect">
            <a:avLst>
              <a:gd name="adj" fmla="val 6957"/>
            </a:avLst>
          </a:prstGeom>
          <a:solidFill>
            <a:srgbClr val="151A2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937760" y="2139696"/>
            <a:ext cx="2895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What-if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2468880"/>
            <a:ext cx="2895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 упреждающие меры, пересчёт той же моделью, монотонный фильтр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90408" y="2011680"/>
            <a:ext cx="3352648" cy="1051560"/>
          </a:xfrm>
          <a:prstGeom prst="roundRect">
            <a:avLst>
              <a:gd name="adj" fmla="val 6957"/>
            </a:avLst>
          </a:prstGeom>
          <a:solidFill>
            <a:srgbClr val="151A2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519008" y="2139696"/>
            <a:ext cx="2895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ONNX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519008" y="2468880"/>
            <a:ext cx="2895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GRU без PyTorch: 2 мс на ТС, паритет 6·10⁻⁵ с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09160" y="3291840"/>
            <a:ext cx="3352648" cy="1051560"/>
          </a:xfrm>
          <a:prstGeom prst="roundRect">
            <a:avLst>
              <a:gd name="adj" fmla="val 6957"/>
            </a:avLst>
          </a:prstGeom>
          <a:solidFill>
            <a:srgbClr val="151A2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937760" y="3419856"/>
            <a:ext cx="2895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CatBoost + PyTorch GRU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937760" y="3749040"/>
            <a:ext cx="2895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ансамбль табличных признаков и трека, обучение на RTX 3080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290408" y="3291840"/>
            <a:ext cx="3352648" cy="1051560"/>
          </a:xfrm>
          <a:prstGeom prst="roundRect">
            <a:avLst>
              <a:gd name="adj" fmla="val 6957"/>
            </a:avLst>
          </a:prstGeom>
          <a:solidFill>
            <a:srgbClr val="151A2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19008" y="3419856"/>
            <a:ext cx="2895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Свой NDTP-кодек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519008" y="3749040"/>
            <a:ext cx="2895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байт-в-байт с официальным эмулятором, CRC, ресинхронизация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09160" y="4572000"/>
            <a:ext cx="3352648" cy="1051560"/>
          </a:xfrm>
          <a:prstGeom prst="roundRect">
            <a:avLst>
              <a:gd name="adj" fmla="val 6957"/>
            </a:avLst>
          </a:prstGeom>
          <a:solidFill>
            <a:srgbClr val="151A2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37760" y="4700016"/>
            <a:ext cx="2895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200+ автотестов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4937760" y="5029200"/>
            <a:ext cx="2895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анти-утечка, инвариант горизонта, E2E по TCP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290408" y="4572000"/>
            <a:ext cx="3352648" cy="1051560"/>
          </a:xfrm>
          <a:prstGeom prst="roundRect">
            <a:avLst>
              <a:gd name="adj" fmla="val 6957"/>
            </a:avLst>
          </a:prstGeom>
          <a:solidFill>
            <a:srgbClr val="151A2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519008" y="4700016"/>
            <a:ext cx="2895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Drawer ТС и «Система»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8519008" y="5029200"/>
            <a:ext cx="2895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график отклонения, остановки ±60 мин, латентности, пакет в hex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852160"/>
            <a:ext cx="11094415" cy="640080"/>
          </a:xfrm>
          <a:prstGeom prst="roundRect">
            <a:avLst>
              <a:gd name="adj" fmla="val 11429"/>
            </a:avLst>
          </a:prstGeom>
          <a:solidFill>
            <a:srgbClr val="0E1116"/>
          </a:solidFill>
          <a:ln w="12700">
            <a:solidFill>
              <a:srgbClr val="2A3342"/>
            </a:solidFill>
            <a:prstDash val="dash"/>
          </a:ln>
        </p:spPr>
      </p:sp>
      <p:sp>
        <p:nvSpPr>
          <p:cNvPr id="30" name="Text 28"/>
          <p:cNvSpPr txBox="1"/>
          <p:nvPr/>
        </p:nvSpPr>
        <p:spPr>
          <a:xfrm>
            <a:off x="822960" y="5852160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Проверили и отбросили: </a:t>
            </a:r>
            <a:pPr indent="0" marL="0">
              <a:buNone/>
            </a:pPr>
            <a:r>
              <a:rPr lang="en-US" sz="13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отклонение по нитке как признак модели — −1.3 с MAE, ниже порога внедрения 2 с;  GRU в ансамбле — всего −0.2 с, так и говорим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 ·  ЧТО ДАЛЬШЕ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Готово к реальному парку —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дальше больше данных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1600200" y="3108960"/>
            <a:ext cx="8991295" cy="0"/>
          </a:xfrm>
          <a:prstGeom prst="line">
            <a:avLst/>
          </a:prstGeom>
          <a:noFill/>
          <a:ln w="25400">
            <a:solidFill>
              <a:srgbClr val="2A334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63040" y="2971800"/>
            <a:ext cx="274320" cy="274320"/>
          </a:xfrm>
          <a:prstGeom prst="ellipse">
            <a:avLst/>
          </a:prstGeom>
          <a:solidFill>
            <a:srgbClr val="2FBF71"/>
          </a:solidFill>
          <a:ln w="25400">
            <a:solidFill>
              <a:srgbClr val="2FBF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520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BF7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Данные за месяцы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31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дообучение без остановки сервиса: ML stateless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710864" y="2971800"/>
            <a:ext cx="274320" cy="274320"/>
          </a:xfrm>
          <a:prstGeom prst="ellipse">
            <a:avLst/>
          </a:prstGeom>
          <a:solidFill>
            <a:srgbClr val="0E1116"/>
          </a:solidFill>
          <a:ln w="25400">
            <a:solidFill>
              <a:srgbClr val="8B93A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96464" y="3520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GTFS-RT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96464" y="3931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стандартный фид для внешних систем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58688" y="2971800"/>
            <a:ext cx="274320" cy="274320"/>
          </a:xfrm>
          <a:prstGeom prst="ellipse">
            <a:avLst/>
          </a:prstGeom>
          <a:solidFill>
            <a:srgbClr val="0E1116"/>
          </a:solidFill>
          <a:ln w="25400">
            <a:solidFill>
              <a:srgbClr val="8B93A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44288" y="3520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Светофорные фазы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044288" y="3931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причина «затор» точнее на перекрёстках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06511" y="2971800"/>
            <a:ext cx="274320" cy="274320"/>
          </a:xfrm>
          <a:prstGeom prst="ellipse">
            <a:avLst/>
          </a:prstGeom>
          <a:solidFill>
            <a:srgbClr val="0E1116"/>
          </a:solidFill>
          <a:ln w="25400">
            <a:solidFill>
              <a:srgbClr val="8B93A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92111" y="3520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Сетевые признаки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292111" y="3931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соседи на перегоне — когда маршруты пересекаются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454335" y="2971800"/>
            <a:ext cx="274320" cy="274320"/>
          </a:xfrm>
          <a:prstGeom prst="ellipse">
            <a:avLst/>
          </a:prstGeom>
          <a:solidFill>
            <a:srgbClr val="0E1116"/>
          </a:solidFill>
          <a:ln w="25400">
            <a:solidFill>
              <a:srgbClr val="8B93A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539935" y="3520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Пассажиропоток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539935" y="3931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дверные датчики: ячейки IRMA и «Корона» NDTP уже поддержаны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516636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151A2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516636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Масштабирование уже заложено: </a:t>
            </a:r>
            <a:pPr indent="0" marL="0">
              <a:buNone/>
            </a:pPr>
            <a:r>
              <a:rPr lang="en-US" sz="13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ML-сервис stateless и растёт репликами, приём и прогнозы разделены очередью, SHAP считается только для рискованных ТС.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inx/Desktop/transit-pulse/docs/pitch/img/card_fu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>
              <a:alpha val="8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2296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2FBF7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ПОТОК ИДЁТ  ·  localhost:8080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46304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Демо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926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Живой поток NDTP, день 06.01.2026 на скорости ×30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7947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0:00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пульт: карта и лента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2519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0:40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463040" y="4251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красный инцидент: за 11 мин до события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7091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1:20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463040" y="4709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what-if и «Принять»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1663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1:55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5166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обрыв потока → DEGRADED → LIVE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6235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2:35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463040" y="5623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NDTP-пакет в hex, Swagger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Transit Pulse — питч</dc:title>
  <dc:subject>PptxGenJS Presentation</dc:subject>
  <dc:creator>Команда Transit Pulse</dc:creator>
  <cp:lastModifiedBy>Команда Transit Pulse</cp:lastModifiedBy>
  <cp:revision>1</cp:revision>
  <dcterms:created xsi:type="dcterms:W3CDTF">2026-09-27T03:16:32Z</dcterms:created>
  <dcterms:modified xsi:type="dcterms:W3CDTF">2026-09-27T03:16:32Z</dcterms:modified>
</cp:coreProperties>
</file>